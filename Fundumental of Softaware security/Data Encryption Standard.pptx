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63" r:id="rId5"/>
    <p:sldId id="273" r:id="rId6"/>
    <p:sldId id="258" r:id="rId7"/>
    <p:sldId id="275" r:id="rId8"/>
    <p:sldId id="259" r:id="rId9"/>
    <p:sldId id="260" r:id="rId10"/>
    <p:sldId id="261" r:id="rId11"/>
    <p:sldId id="267" r:id="rId12"/>
    <p:sldId id="262" r:id="rId13"/>
    <p:sldId id="264" r:id="rId14"/>
    <p:sldId id="265" r:id="rId15"/>
    <p:sldId id="266" r:id="rId16"/>
    <p:sldId id="268" r:id="rId17"/>
    <p:sldId id="269" r:id="rId18"/>
    <p:sldId id="270" r:id="rId19"/>
    <p:sldId id="271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8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GB" sz="6600" b="1">
                <a:latin typeface="Gabriola" panose="04040605051002020D02" charset="0"/>
                <a:cs typeface="Gabriola" panose="04040605051002020D02" charset="0"/>
                <a:sym typeface="+mn-ea"/>
              </a:rPr>
              <a:t>Data Encryption Standard</a:t>
            </a:r>
            <a:br>
              <a:rPr lang="en-US" altLang="en-GB" sz="6600" b="1">
                <a:latin typeface="Gabriola" panose="04040605051002020D02" charset="0"/>
                <a:cs typeface="Gabriola" panose="04040605051002020D02" charset="0"/>
                <a:sym typeface="+mn-ea"/>
              </a:rPr>
            </a:br>
            <a:r>
              <a:rPr lang="en-US" altLang="en-GB" sz="6600" b="1">
                <a:latin typeface="Gabriola" panose="04040605051002020D02" charset="0"/>
                <a:cs typeface="Gabriola" panose="04040605051002020D02" charset="0"/>
                <a:sym typeface="+mn-ea"/>
              </a:rPr>
              <a:t>Example</a:t>
            </a:r>
            <a:endParaRPr lang="en-US" altLang="en-GB" sz="6600" b="1">
              <a:latin typeface="Gabriola" panose="04040605051002020D02" charset="0"/>
              <a:cs typeface="Gabriola" panose="04040605051002020D02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70"/>
            <a:ext cx="10515600" cy="6450330"/>
          </a:xfrm>
        </p:spPr>
        <p:txBody>
          <a:bodyPr/>
          <a:p>
            <a:pPr marL="0" indent="0">
              <a:buNone/>
            </a:pPr>
            <a:r>
              <a:rPr lang="en-US" altLang="en-GB"/>
              <a:t>   </a:t>
            </a:r>
            <a:r>
              <a:rPr lang="en-US" altLang="en-GB" sz="2000"/>
              <a:t>let </a:t>
            </a:r>
            <a:r>
              <a:rPr lang="en-US" altLang="en-GB" sz="200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lang="en-US" altLang="en-GB" sz="2000">
                <a:solidFill>
                  <a:schemeClr val="tx1"/>
                </a:solidFill>
              </a:rPr>
              <a:t> be a</a:t>
            </a:r>
            <a:r>
              <a:rPr lang="en-US" altLang="en-GB" sz="2000"/>
              <a:t> plaintext message </a:t>
            </a:r>
            <a:r>
              <a:rPr lang="en-US" altLang="en-GB" sz="200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en-US" altLang="en-GB" sz="2000"/>
              <a:t> = </a:t>
            </a:r>
            <a:r>
              <a:rPr lang="en-US" altLang="en-GB" sz="2000">
                <a:solidFill>
                  <a:schemeClr val="accent1">
                    <a:lumMod val="75000"/>
                  </a:schemeClr>
                </a:solidFill>
              </a:rPr>
              <a:t>SUCCESS</a:t>
            </a:r>
            <a:r>
              <a:rPr lang="en-US" altLang="en-GB" sz="2000"/>
              <a:t>.</a:t>
            </a:r>
            <a:endParaRPr lang="en-US" altLang="en-GB" sz="2000"/>
          </a:p>
          <a:p>
            <a:pPr marL="0" indent="0">
              <a:buFont typeface="+mj-lt"/>
              <a:buNone/>
            </a:pPr>
            <a:r>
              <a:rPr lang="en-US" altLang="en-GB" sz="2000"/>
              <a:t>  with a key of : </a:t>
            </a:r>
            <a:r>
              <a:rPr lang="en-US" altLang="en-GB" sz="2000">
                <a:solidFill>
                  <a:schemeClr val="accent1">
                    <a:lumMod val="75000"/>
                  </a:schemeClr>
                </a:solidFill>
              </a:rPr>
              <a:t>DISCIPLINE.</a:t>
            </a:r>
            <a:endParaRPr lang="en-US" altLang="en-GB" sz="2000">
              <a:solidFill>
                <a:schemeClr val="accent1">
                  <a:lumMod val="75000"/>
                </a:schemeClr>
              </a:solidFill>
            </a:endParaRPr>
          </a:p>
          <a:p>
            <a:pPr marL="2400300" lvl="4" indent="-571500">
              <a:buClr>
                <a:srgbClr val="0D0D0D"/>
              </a:buClr>
              <a:buSzPct val="120000"/>
              <a:buFont typeface="+mj-lt"/>
              <a:buAutoNum type="romanUcPeriod"/>
            </a:pPr>
            <a:r>
              <a:rPr lang="en-US" altLang="en-GB" sz="2400" b="1">
                <a:solidFill>
                  <a:schemeClr val="tx1"/>
                </a:solidFill>
              </a:rPr>
              <a:t>DES key Generation</a:t>
            </a:r>
            <a:endParaRPr lang="en-US" altLang="en-GB" sz="2400" b="1">
              <a:solidFill>
                <a:schemeClr val="tx1"/>
              </a:solidFill>
            </a:endParaRPr>
          </a:p>
          <a:p>
            <a:pPr marL="0" lvl="8" indent="0">
              <a:buNone/>
            </a:pPr>
            <a:r>
              <a:rPr lang="en-US" altLang="en-GB" sz="2000">
                <a:solidFill>
                  <a:schemeClr val="accent2"/>
                </a:solidFill>
                <a:sym typeface="+mn-ea"/>
              </a:rPr>
              <a:t>step1: </a:t>
            </a:r>
            <a:r>
              <a:rPr lang="en-US" altLang="en-GB" sz="2400" i="1">
                <a:solidFill>
                  <a:schemeClr val="tx1"/>
                </a:solidFill>
                <a:sym typeface="+mn-ea"/>
              </a:rPr>
              <a:t>start with key</a:t>
            </a:r>
            <a:r>
              <a:rPr lang="en-US" altLang="en-GB" sz="2000" i="1">
                <a:solidFill>
                  <a:schemeClr val="tx1"/>
                </a:solidFill>
                <a:sym typeface="+mn-ea"/>
              </a:rPr>
              <a:t> </a:t>
            </a:r>
            <a:endParaRPr lang="en-US" altLang="en-GB" sz="2000" i="1">
              <a:solidFill>
                <a:schemeClr val="tx1"/>
              </a:solidFill>
              <a:sym typeface="+mn-ea"/>
            </a:endParaRPr>
          </a:p>
          <a:p>
            <a:pPr marL="0" lvl="8" indent="0">
              <a:buNone/>
            </a:pPr>
            <a:r>
              <a:rPr lang="en-US" altLang="en-GB" sz="2000"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en-GB" sz="2000">
                <a:sym typeface="+mn-ea"/>
              </a:rPr>
              <a:t>Each English letter = 1 byte = 8 bits.</a:t>
            </a:r>
            <a:endParaRPr lang="en-US" altLang="en-GB" sz="2000">
              <a:sym typeface="+mn-ea"/>
            </a:endParaRPr>
          </a:p>
          <a:p>
            <a:pPr marL="0" lvl="8" indent="0">
              <a:buNone/>
            </a:pPr>
            <a:r>
              <a:rPr lang="en-US" altLang="en-GB" sz="2000">
                <a:sym typeface="+mn-ea"/>
              </a:rPr>
              <a:t>  so the word </a:t>
            </a:r>
            <a:r>
              <a:rPr lang="en-US" altLang="en-GB" sz="2000">
                <a:solidFill>
                  <a:schemeClr val="accent1">
                    <a:lumMod val="75000"/>
                  </a:schemeClr>
                </a:solidFill>
                <a:sym typeface="+mn-ea"/>
              </a:rPr>
              <a:t>DISCIPLINE</a:t>
            </a:r>
            <a:r>
              <a:rPr lang="en-US" altLang="en-GB" sz="2000">
                <a:sym typeface="+mn-ea"/>
              </a:rPr>
              <a:t> have a 10 letters we use first 8 characters</a:t>
            </a:r>
            <a:endParaRPr lang="en-US" altLang="en-GB" sz="2000">
              <a:sym typeface="+mn-ea"/>
            </a:endParaRPr>
          </a:p>
          <a:p>
            <a:pPr marL="0" lvl="8" indent="0">
              <a:buNone/>
            </a:pPr>
            <a:r>
              <a:rPr lang="en-US" altLang="en-GB" sz="2000">
                <a:sym typeface="+mn-ea"/>
              </a:rPr>
              <a:t> then  key became a  </a:t>
            </a:r>
            <a:r>
              <a:rPr lang="en-US" altLang="en-GB" sz="2000">
                <a:solidFill>
                  <a:schemeClr val="accent1">
                    <a:lumMod val="75000"/>
                  </a:schemeClr>
                </a:solidFill>
                <a:sym typeface="+mn-ea"/>
              </a:rPr>
              <a:t>DISCIPLI.</a:t>
            </a:r>
            <a:endParaRPr lang="en-US" altLang="en-GB" sz="200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0" lvl="8" indent="0">
              <a:buNone/>
            </a:pPr>
            <a:r>
              <a:rPr lang="en-US" altLang="en-GB" sz="2000">
                <a:solidFill>
                  <a:schemeClr val="accent2"/>
                </a:solidFill>
                <a:sym typeface="+mn-ea"/>
              </a:rPr>
              <a:t>step 2:</a:t>
            </a:r>
            <a:r>
              <a:rPr lang="en-US" altLang="en-GB" sz="2400" i="1">
                <a:solidFill>
                  <a:schemeClr val="tx1"/>
                </a:solidFill>
              </a:rPr>
              <a:t>Convert each character to ASCII and then binary (8 bits each).</a:t>
            </a: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GB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GB">
                <a:solidFill>
                  <a:schemeClr val="accent1">
                    <a:lumMod val="75000"/>
                  </a:schemeClr>
                </a:solidFill>
              </a:rPr>
              <a:t>             </a:t>
            </a:r>
            <a:endParaRPr lang="en-US" altLang="en-GB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828800" y="3238500"/>
          <a:ext cx="85318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character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ASCII(dec)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ASCII(hex)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Binary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D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68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44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01000100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I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73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49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01001001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53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01010011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67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01000011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I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73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49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01001001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P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50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01010000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L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76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4C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01001100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I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73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49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01001001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685" y="200025"/>
            <a:ext cx="11094085" cy="6282055"/>
          </a:xfrm>
        </p:spPr>
        <p:txBody>
          <a:bodyPr/>
          <a:p>
            <a:pPr marL="0" indent="0">
              <a:buNone/>
            </a:pPr>
            <a:r>
              <a:rPr lang="en-US" altLang="en-GB"/>
              <a:t>                                </a:t>
            </a:r>
            <a:r>
              <a:rPr lang="en-US" altLang="en-GB" sz="2400" b="1">
                <a:solidFill>
                  <a:schemeClr val="accent1">
                    <a:lumMod val="75000"/>
                  </a:schemeClr>
                </a:solidFill>
              </a:rPr>
              <a:t>Round 1 of Key generation</a:t>
            </a:r>
            <a:endParaRPr lang="en-US" altLang="en-GB" sz="2400" b="1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</a:rPr>
              <a:t>a.start with 64-bits of key</a:t>
            </a:r>
            <a:endParaRPr lang="en-US" altLang="en-GB" sz="2400" b="1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64 bit key :</a:t>
            </a:r>
            <a:r>
              <a:rPr lang="en-US" altLang="en-GB" sz="2000">
                <a:sym typeface="+mn-ea"/>
              </a:rPr>
              <a:t> 01000100 01001001 01010011 01000011 01001001 01010000 01001100 01001001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endParaRPr lang="en-US" altLang="en-GB" sz="2400" b="1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</a:rPr>
              <a:t>b.Drop parity bits </a:t>
            </a:r>
            <a:r>
              <a:rPr lang="en-US" altLang="en-US" sz="2400" b="1">
                <a:solidFill>
                  <a:schemeClr val="accent2">
                    <a:lumMod val="75000"/>
                  </a:schemeClr>
                </a:solidFill>
              </a:rPr>
              <a:t>→</a:t>
            </a: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</a:rPr>
              <a:t> Permuted Choice 1 (PC-1).</a:t>
            </a:r>
            <a:endParaRPr lang="en-US" altLang="en-GB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400">
                <a:solidFill>
                  <a:schemeClr val="tx1"/>
                </a:solidFill>
              </a:rPr>
              <a:t>So positions 8, 16, 24, 32, 40, 48, 56, 64 are removed.</a:t>
            </a:r>
            <a:endParaRPr lang="en-US" altLang="en-GB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64 bit key :</a:t>
            </a:r>
            <a:r>
              <a:rPr lang="en-US" altLang="en-GB" sz="2000">
                <a:sym typeface="+mn-ea"/>
              </a:rPr>
              <a:t> 0100010</a:t>
            </a:r>
            <a:r>
              <a:rPr lang="en-US" altLang="en-GB" sz="2000">
                <a:highlight>
                  <a:srgbClr val="FF0000"/>
                </a:highlight>
                <a:sym typeface="+mn-ea"/>
              </a:rPr>
              <a:t>0</a:t>
            </a:r>
            <a:r>
              <a:rPr lang="en-US" altLang="en-GB" sz="2000">
                <a:sym typeface="+mn-ea"/>
              </a:rPr>
              <a:t> 0100100</a:t>
            </a:r>
            <a:r>
              <a:rPr lang="en-US" altLang="en-GB" sz="2000">
                <a:highlight>
                  <a:srgbClr val="FF0000"/>
                </a:highlight>
                <a:sym typeface="+mn-ea"/>
              </a:rPr>
              <a:t>1</a:t>
            </a:r>
            <a:r>
              <a:rPr lang="en-US" altLang="en-GB" sz="2000">
                <a:sym typeface="+mn-ea"/>
              </a:rPr>
              <a:t> 0101001</a:t>
            </a:r>
            <a:r>
              <a:rPr lang="en-US" altLang="en-GB" sz="2000">
                <a:highlight>
                  <a:srgbClr val="FF0000"/>
                </a:highlight>
                <a:sym typeface="+mn-ea"/>
              </a:rPr>
              <a:t>1</a:t>
            </a:r>
            <a:r>
              <a:rPr lang="en-US" altLang="en-GB" sz="2000">
                <a:sym typeface="+mn-ea"/>
              </a:rPr>
              <a:t> 0100001</a:t>
            </a:r>
            <a:r>
              <a:rPr lang="en-US" altLang="en-GB" sz="2000">
                <a:highlight>
                  <a:srgbClr val="FF0000"/>
                </a:highlight>
                <a:sym typeface="+mn-ea"/>
              </a:rPr>
              <a:t>1</a:t>
            </a:r>
            <a:r>
              <a:rPr lang="en-US" altLang="en-GB" sz="2000">
                <a:sym typeface="+mn-ea"/>
              </a:rPr>
              <a:t> 0100100</a:t>
            </a:r>
            <a:r>
              <a:rPr lang="en-US" altLang="en-GB" sz="2000">
                <a:highlight>
                  <a:srgbClr val="FF0000"/>
                </a:highlight>
                <a:sym typeface="+mn-ea"/>
              </a:rPr>
              <a:t>1</a:t>
            </a:r>
            <a:r>
              <a:rPr lang="en-US" altLang="en-GB" sz="2000">
                <a:sym typeface="+mn-ea"/>
              </a:rPr>
              <a:t> 0101000</a:t>
            </a:r>
            <a:r>
              <a:rPr lang="en-US" altLang="en-GB" sz="2000">
                <a:highlight>
                  <a:srgbClr val="FF0000"/>
                </a:highlight>
                <a:sym typeface="+mn-ea"/>
              </a:rPr>
              <a:t>0</a:t>
            </a:r>
            <a:r>
              <a:rPr lang="en-US" altLang="en-GB" sz="2000">
                <a:sym typeface="+mn-ea"/>
              </a:rPr>
              <a:t> 0100110</a:t>
            </a:r>
            <a:r>
              <a:rPr lang="en-US" altLang="en-GB" sz="2000">
                <a:highlight>
                  <a:srgbClr val="FF0000"/>
                </a:highlight>
                <a:sym typeface="+mn-ea"/>
              </a:rPr>
              <a:t>0</a:t>
            </a:r>
            <a:r>
              <a:rPr lang="en-US" altLang="en-GB" sz="2000">
                <a:sym typeface="+mn-ea"/>
              </a:rPr>
              <a:t> 0100100</a:t>
            </a:r>
            <a:r>
              <a:rPr lang="en-US" altLang="en-GB" sz="2000">
                <a:highlight>
                  <a:srgbClr val="FF0000"/>
                </a:highlight>
                <a:sym typeface="+mn-ea"/>
              </a:rPr>
              <a:t>1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>
                <a:solidFill>
                  <a:schemeClr val="tx1"/>
                </a:solidFill>
              </a:rPr>
              <a:t>    We permute the 56-bit key using PC-1 table.</a:t>
            </a:r>
            <a:endParaRPr lang="en-US" altLang="en-GB" sz="2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GB" sz="2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GB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400">
                <a:solidFill>
                  <a:schemeClr val="tx1"/>
                </a:solidFill>
              </a:rPr>
              <a:t>   </a:t>
            </a:r>
            <a:endParaRPr lang="en-US" altLang="en-GB" sz="240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46685" y="3798570"/>
            <a:ext cx="7520305" cy="2962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/>
              <a:t>0000000011111111000000000010 0000110001000001110100100100</a:t>
            </a:r>
            <a:endParaRPr lang="en-US" altLang="en-GB" sz="2000"/>
          </a:p>
          <a:p>
            <a:endParaRPr lang="en-US" altLang="en-GB" sz="2400" b="1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  <a:sym typeface="+mn-ea"/>
              </a:rPr>
              <a:t>c. split 56 bit into left(C0)  and right (D0).</a:t>
            </a:r>
            <a:endParaRPr lang="en-US" altLang="en-GB" sz="2400" b="1"/>
          </a:p>
          <a:p>
            <a:r>
              <a:rPr lang="en-US" altLang="en-GB" sz="2000" b="1">
                <a:sym typeface="+mn-ea"/>
              </a:rPr>
              <a:t>first left 28 bits</a:t>
            </a:r>
            <a:r>
              <a:rPr lang="en-US" altLang="en-GB" sz="2000">
                <a:sym typeface="+mn-ea"/>
              </a:rPr>
              <a:t>  </a:t>
            </a:r>
            <a:r>
              <a:rPr lang="en-US" altLang="en-GB" sz="2400" b="1">
                <a:sym typeface="+mn-ea"/>
              </a:rPr>
              <a:t>C</a:t>
            </a:r>
            <a:r>
              <a:rPr lang="en-US" altLang="en-GB" sz="1600">
                <a:sym typeface="+mn-ea"/>
              </a:rPr>
              <a:t>0</a:t>
            </a:r>
            <a:r>
              <a:rPr lang="en-US" altLang="en-GB" sz="2000">
                <a:sym typeface="+mn-ea"/>
              </a:rPr>
              <a:t> : 0000000011111111000000000010</a:t>
            </a:r>
            <a:endParaRPr lang="en-US" altLang="en-GB" sz="2000"/>
          </a:p>
          <a:p>
            <a:r>
              <a:rPr lang="en-US" altLang="en-GB" sz="2000" b="1">
                <a:sym typeface="+mn-ea"/>
              </a:rPr>
              <a:t>right 28 bits </a:t>
            </a:r>
            <a:r>
              <a:rPr lang="en-US" altLang="en-GB" sz="2000">
                <a:sym typeface="+mn-ea"/>
              </a:rPr>
              <a:t>       </a:t>
            </a:r>
            <a:r>
              <a:rPr lang="en-US" altLang="en-GB" sz="2400" b="1">
                <a:sym typeface="+mn-ea"/>
              </a:rPr>
              <a:t>D</a:t>
            </a:r>
            <a:r>
              <a:rPr lang="en-US" altLang="en-GB" sz="1600">
                <a:sym typeface="+mn-ea"/>
              </a:rPr>
              <a:t>0</a:t>
            </a:r>
            <a:r>
              <a:rPr lang="en-US" altLang="en-GB" sz="2000">
                <a:sym typeface="+mn-ea"/>
              </a:rPr>
              <a:t>: 0000110001000001110100100100 </a:t>
            </a:r>
            <a:endParaRPr lang="en-US" altLang="en-GB" sz="2000"/>
          </a:p>
          <a:p>
            <a:endParaRPr lang="en-GB" altLang="en-US" sz="2000"/>
          </a:p>
        </p:txBody>
      </p:sp>
      <p:pic>
        <p:nvPicPr>
          <p:cNvPr id="2" name="Picture 1" descr="PC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6355" y="3245485"/>
            <a:ext cx="3818255" cy="1815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90" y="203200"/>
            <a:ext cx="12021820" cy="6333490"/>
          </a:xfrm>
        </p:spPr>
        <p:txBody>
          <a:bodyPr/>
          <a:p>
            <a:pPr marL="0" indent="0">
              <a:buNone/>
            </a:pPr>
            <a:r>
              <a:rPr lang="en-US" altLang="en-GB" sz="2400" b="1">
                <a:solidFill>
                  <a:srgbClr val="FF0000"/>
                </a:solidFill>
              </a:rPr>
              <a:t>d. left  Circular shift</a:t>
            </a:r>
            <a:endParaRPr lang="en-US" altLang="en-GB" sz="24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GB" sz="2000" b="1">
                <a:solidFill>
                  <a:schemeClr val="tx1"/>
                </a:solidFill>
              </a:rPr>
              <a:t>1</a:t>
            </a:r>
            <a:r>
              <a:rPr lang="en-US" altLang="en-GB" sz="2000">
                <a:solidFill>
                  <a:schemeClr val="tx1"/>
                </a:solidFill>
              </a:rPr>
              <a:t> bit in rounds </a:t>
            </a:r>
            <a:r>
              <a:rPr lang="en-US" altLang="en-GB" sz="2000" b="1">
                <a:solidFill>
                  <a:schemeClr val="tx1"/>
                </a:solidFill>
              </a:rPr>
              <a:t>1, 2, 9</a:t>
            </a:r>
            <a:r>
              <a:rPr lang="en-US" altLang="en-GB" sz="2000">
                <a:solidFill>
                  <a:schemeClr val="tx1"/>
                </a:solidFill>
              </a:rPr>
              <a:t>, and </a:t>
            </a:r>
            <a:r>
              <a:rPr lang="en-US" altLang="en-GB" sz="2000" b="1">
                <a:solidFill>
                  <a:schemeClr val="tx1"/>
                </a:solidFill>
              </a:rPr>
              <a:t>16</a:t>
            </a: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000" b="1">
                <a:solidFill>
                  <a:schemeClr val="tx1"/>
                </a:solidFill>
              </a:rPr>
              <a:t>2</a:t>
            </a:r>
            <a:r>
              <a:rPr lang="en-US" altLang="en-GB" sz="2000">
                <a:solidFill>
                  <a:schemeClr val="tx1"/>
                </a:solidFill>
              </a:rPr>
              <a:t> bits in all other rounds</a:t>
            </a:r>
            <a:endParaRPr lang="en-US" altLang="en-GB" sz="24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GB" sz="2400" b="1">
                <a:solidFill>
                  <a:srgbClr val="FF0000"/>
                </a:solidFill>
              </a:rPr>
              <a:t> </a:t>
            </a:r>
            <a:r>
              <a:rPr lang="en-US" altLang="en-GB" sz="2000">
                <a:solidFill>
                  <a:schemeClr val="tx1"/>
                </a:solidFill>
              </a:rPr>
              <a:t>for both </a:t>
            </a:r>
            <a:r>
              <a:rPr lang="en-US" altLang="en-GB" sz="2400" b="1">
                <a:solidFill>
                  <a:schemeClr val="tx1"/>
                </a:solidFill>
              </a:rPr>
              <a:t>C</a:t>
            </a:r>
            <a:r>
              <a:rPr lang="en-US" altLang="en-GB" sz="1600">
                <a:solidFill>
                  <a:schemeClr val="tx1"/>
                </a:solidFill>
              </a:rPr>
              <a:t>0</a:t>
            </a:r>
            <a:r>
              <a:rPr lang="en-US" altLang="en-GB" sz="2000">
                <a:solidFill>
                  <a:schemeClr val="tx1"/>
                </a:solidFill>
              </a:rPr>
              <a:t> and </a:t>
            </a:r>
            <a:r>
              <a:rPr lang="en-US" altLang="en-GB" sz="2400" b="1">
                <a:solidFill>
                  <a:schemeClr val="tx1"/>
                </a:solidFill>
              </a:rPr>
              <a:t>D</a:t>
            </a:r>
            <a:r>
              <a:rPr lang="en-US" altLang="en-GB" sz="1600">
                <a:solidFill>
                  <a:schemeClr val="tx1"/>
                </a:solidFill>
              </a:rPr>
              <a:t>0</a:t>
            </a:r>
            <a:endParaRPr lang="en-US" altLang="en-GB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400" b="1">
                <a:solidFill>
                  <a:srgbClr val="FF0000"/>
                </a:solidFill>
              </a:rPr>
              <a:t>  </a:t>
            </a:r>
            <a:r>
              <a:rPr lang="en-US" altLang="en-GB" sz="2400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en-GB" sz="2400" b="1">
                <a:solidFill>
                  <a:schemeClr val="tx1"/>
                </a:solidFill>
                <a:sym typeface="+mn-ea"/>
              </a:rPr>
              <a:t>C</a:t>
            </a:r>
            <a:r>
              <a:rPr lang="en-US" altLang="en-GB" sz="1600">
                <a:solidFill>
                  <a:schemeClr val="tx1"/>
                </a:solidFill>
                <a:sym typeface="+mn-ea"/>
              </a:rPr>
              <a:t>0 </a:t>
            </a:r>
            <a:r>
              <a:rPr lang="en-US" altLang="en-GB" sz="2000">
                <a:solidFill>
                  <a:schemeClr val="tx1"/>
                </a:solidFill>
                <a:sym typeface="+mn-ea"/>
              </a:rPr>
              <a:t>:</a:t>
            </a:r>
            <a:r>
              <a:rPr lang="en-US" altLang="en-GB" sz="2000">
                <a:sym typeface="+mn-ea"/>
              </a:rPr>
              <a:t>0000000011111111000000000010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olidFill>
                  <a:schemeClr val="tx1"/>
                </a:solidFill>
                <a:sym typeface="+mn-ea"/>
              </a:rPr>
              <a:t>left  Circular shift  of </a:t>
            </a:r>
            <a:r>
              <a:rPr lang="en-US" altLang="en-GB" sz="2400" b="1">
                <a:solidFill>
                  <a:schemeClr val="tx1"/>
                </a:solidFill>
                <a:sym typeface="+mn-ea"/>
              </a:rPr>
              <a:t>C</a:t>
            </a:r>
            <a:r>
              <a:rPr lang="en-US" altLang="en-GB" sz="1600">
                <a:solidFill>
                  <a:schemeClr val="tx1"/>
                </a:solidFill>
                <a:sym typeface="+mn-ea"/>
              </a:rPr>
              <a:t>0</a:t>
            </a:r>
            <a:r>
              <a:rPr lang="en-US" altLang="en-GB" sz="2000">
                <a:solidFill>
                  <a:schemeClr val="tx1"/>
                </a:solidFill>
                <a:sym typeface="+mn-ea"/>
              </a:rPr>
              <a:t> = </a:t>
            </a:r>
            <a:r>
              <a:rPr lang="en-US" altLang="en-GB" sz="2400" b="1">
                <a:solidFill>
                  <a:schemeClr val="tx1"/>
                </a:solidFill>
                <a:sym typeface="+mn-ea"/>
              </a:rPr>
              <a:t>C</a:t>
            </a:r>
            <a:r>
              <a:rPr lang="en-US" altLang="en-GB" sz="1600">
                <a:solidFill>
                  <a:schemeClr val="tx1"/>
                </a:solidFill>
                <a:sym typeface="+mn-ea"/>
              </a:rPr>
              <a:t>1</a:t>
            </a:r>
            <a:r>
              <a:rPr lang="en-US" altLang="en-GB" sz="2000">
                <a:solidFill>
                  <a:schemeClr val="tx1"/>
                </a:solidFill>
                <a:sym typeface="+mn-ea"/>
              </a:rPr>
              <a:t>  = </a:t>
            </a:r>
            <a:r>
              <a:rPr lang="en-US" altLang="en-GB" sz="2000">
                <a:sym typeface="+mn-ea"/>
              </a:rPr>
              <a:t>0000000111111110000000000100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left  Circular shift  of </a:t>
            </a:r>
            <a:r>
              <a:rPr lang="en-US" altLang="en-GB" sz="2000" b="1">
                <a:sym typeface="+mn-ea"/>
              </a:rPr>
              <a:t>C</a:t>
            </a:r>
            <a:r>
              <a:rPr lang="en-US" altLang="en-GB" sz="1600" b="1">
                <a:sym typeface="+mn-ea"/>
              </a:rPr>
              <a:t>1</a:t>
            </a:r>
            <a:r>
              <a:rPr lang="en-US" altLang="en-GB" sz="2000" b="1">
                <a:sym typeface="+mn-ea"/>
              </a:rPr>
              <a:t> </a:t>
            </a:r>
            <a:r>
              <a:rPr lang="en-US" altLang="en-GB" sz="2000">
                <a:sym typeface="+mn-ea"/>
              </a:rPr>
              <a:t>=  </a:t>
            </a:r>
            <a:r>
              <a:rPr lang="en-US" altLang="en-GB" sz="2000" b="1">
                <a:sym typeface="+mn-ea"/>
              </a:rPr>
              <a:t>C</a:t>
            </a:r>
            <a:r>
              <a:rPr lang="en-US" altLang="en-GB" sz="1600" b="1">
                <a:sym typeface="+mn-ea"/>
              </a:rPr>
              <a:t>2</a:t>
            </a:r>
            <a:r>
              <a:rPr lang="en-US" altLang="en-GB" sz="2000">
                <a:sym typeface="+mn-ea"/>
              </a:rPr>
              <a:t>  = </a:t>
            </a:r>
            <a:r>
              <a:rPr lang="en-US" altLang="en-GB" sz="2000">
                <a:sym typeface="+mn-ea"/>
              </a:rPr>
              <a:t>0000001111111100000000001000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left  Circular shift  of </a:t>
            </a:r>
            <a:r>
              <a:rPr lang="en-US" altLang="en-GB" sz="2000" b="1">
                <a:sym typeface="+mn-ea"/>
              </a:rPr>
              <a:t>C</a:t>
            </a:r>
            <a:r>
              <a:rPr lang="en-US" altLang="en-GB" sz="1600">
                <a:sym typeface="+mn-ea"/>
              </a:rPr>
              <a:t>2</a:t>
            </a:r>
            <a:r>
              <a:rPr lang="en-US" altLang="en-GB" sz="2000" b="1">
                <a:sym typeface="+mn-ea"/>
              </a:rPr>
              <a:t> </a:t>
            </a:r>
            <a:r>
              <a:rPr lang="en-US" altLang="en-GB" sz="2000">
                <a:sym typeface="+mn-ea"/>
              </a:rPr>
              <a:t>=  </a:t>
            </a:r>
            <a:r>
              <a:rPr lang="en-US" altLang="en-GB" sz="2000" b="1">
                <a:sym typeface="+mn-ea"/>
              </a:rPr>
              <a:t>C</a:t>
            </a:r>
            <a:r>
              <a:rPr lang="en-US" altLang="en-GB" sz="1600">
                <a:sym typeface="+mn-ea"/>
              </a:rPr>
              <a:t>3</a:t>
            </a:r>
            <a:r>
              <a:rPr lang="en-US" altLang="en-GB" sz="2000">
                <a:sym typeface="+mn-ea"/>
              </a:rPr>
              <a:t>  = </a:t>
            </a:r>
            <a:r>
              <a:rPr lang="en-US" altLang="en-GB" sz="2000">
                <a:sym typeface="+mn-ea"/>
              </a:rPr>
              <a:t>0000111111110000000000100000</a:t>
            </a:r>
            <a:endParaRPr lang="en-US" altLang="en-GB" sz="2000"/>
          </a:p>
          <a:p>
            <a:pPr marL="0" indent="0">
              <a:buNone/>
            </a:pP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400" b="1">
                <a:solidFill>
                  <a:schemeClr val="tx1"/>
                </a:solidFill>
                <a:sym typeface="+mn-ea"/>
              </a:rPr>
              <a:t>D</a:t>
            </a:r>
            <a:r>
              <a:rPr lang="en-US" altLang="en-GB" sz="1600">
                <a:solidFill>
                  <a:schemeClr val="tx1"/>
                </a:solidFill>
                <a:sym typeface="+mn-ea"/>
              </a:rPr>
              <a:t>0  </a:t>
            </a:r>
            <a:r>
              <a:rPr lang="en-US" altLang="en-GB" sz="2000">
                <a:solidFill>
                  <a:schemeClr val="tx1"/>
                </a:solidFill>
                <a:sym typeface="+mn-ea"/>
              </a:rPr>
              <a:t>: </a:t>
            </a:r>
            <a:r>
              <a:rPr lang="en-US" altLang="en-GB" sz="2000">
                <a:sym typeface="+mn-ea"/>
              </a:rPr>
              <a:t>0000110001000001110100100100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left  Circular shift  of </a:t>
            </a:r>
            <a:r>
              <a:rPr lang="en-US" altLang="en-GB" sz="2000" b="1">
                <a:sym typeface="+mn-ea"/>
              </a:rPr>
              <a:t>D</a:t>
            </a:r>
            <a:r>
              <a:rPr lang="en-US" altLang="en-GB" sz="1600">
                <a:sym typeface="+mn-ea"/>
              </a:rPr>
              <a:t>0</a:t>
            </a:r>
            <a:r>
              <a:rPr lang="en-US" altLang="en-GB" sz="2000">
                <a:sym typeface="+mn-ea"/>
              </a:rPr>
              <a:t> = </a:t>
            </a:r>
            <a:r>
              <a:rPr lang="en-US" altLang="en-GB" sz="2000" b="1">
                <a:sym typeface="+mn-ea"/>
              </a:rPr>
              <a:t>D</a:t>
            </a:r>
            <a:r>
              <a:rPr lang="en-US" altLang="en-GB" sz="1600">
                <a:sym typeface="+mn-ea"/>
              </a:rPr>
              <a:t>1</a:t>
            </a:r>
            <a:r>
              <a:rPr lang="en-US" altLang="en-GB" sz="2000">
                <a:sym typeface="+mn-ea"/>
              </a:rPr>
              <a:t>  = </a:t>
            </a:r>
            <a:r>
              <a:rPr lang="en-US" altLang="en-GB" sz="2000">
                <a:sym typeface="+mn-ea"/>
              </a:rPr>
              <a:t>0001100010000011101001001000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left  Circular shift  of </a:t>
            </a:r>
            <a:r>
              <a:rPr lang="en-US" altLang="en-GB" sz="2000" b="1">
                <a:sym typeface="+mn-ea"/>
              </a:rPr>
              <a:t>D</a:t>
            </a:r>
            <a:r>
              <a:rPr lang="en-US" altLang="en-GB" sz="1600">
                <a:sym typeface="+mn-ea"/>
              </a:rPr>
              <a:t>1</a:t>
            </a:r>
            <a:r>
              <a:rPr lang="en-US" altLang="en-GB" sz="2000" b="1">
                <a:sym typeface="+mn-ea"/>
              </a:rPr>
              <a:t> </a:t>
            </a:r>
            <a:r>
              <a:rPr lang="en-US" altLang="en-GB" sz="2000">
                <a:sym typeface="+mn-ea"/>
              </a:rPr>
              <a:t>=  </a:t>
            </a:r>
            <a:r>
              <a:rPr lang="en-US" altLang="en-GB" sz="2000" b="1">
                <a:sym typeface="+mn-ea"/>
              </a:rPr>
              <a:t>D</a:t>
            </a:r>
            <a:r>
              <a:rPr lang="en-US" altLang="en-GB" sz="1600">
                <a:sym typeface="+mn-ea"/>
              </a:rPr>
              <a:t>2</a:t>
            </a:r>
            <a:r>
              <a:rPr lang="en-US" altLang="en-GB" sz="2000">
                <a:sym typeface="+mn-ea"/>
              </a:rPr>
              <a:t>  = </a:t>
            </a:r>
            <a:r>
              <a:rPr lang="en-US" altLang="en-GB" sz="2000">
                <a:sym typeface="+mn-ea"/>
              </a:rPr>
              <a:t>0011000100000111010010010000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left  Circular shift  of </a:t>
            </a:r>
            <a:r>
              <a:rPr lang="en-US" altLang="en-GB" sz="2000" b="1">
                <a:sym typeface="+mn-ea"/>
              </a:rPr>
              <a:t>D</a:t>
            </a:r>
            <a:r>
              <a:rPr lang="en-US" altLang="en-GB" sz="1600">
                <a:sym typeface="+mn-ea"/>
              </a:rPr>
              <a:t>2</a:t>
            </a:r>
            <a:r>
              <a:rPr lang="en-US" altLang="en-GB" sz="2000" b="1">
                <a:sym typeface="+mn-ea"/>
              </a:rPr>
              <a:t> </a:t>
            </a:r>
            <a:r>
              <a:rPr lang="en-US" altLang="en-GB" sz="2000">
                <a:sym typeface="+mn-ea"/>
              </a:rPr>
              <a:t>=  </a:t>
            </a:r>
            <a:r>
              <a:rPr lang="en-US" altLang="en-GB" sz="2000" b="1">
                <a:sym typeface="+mn-ea"/>
              </a:rPr>
              <a:t>D</a:t>
            </a:r>
            <a:r>
              <a:rPr lang="en-US" altLang="en-GB" sz="1600">
                <a:sym typeface="+mn-ea"/>
              </a:rPr>
              <a:t>3</a:t>
            </a:r>
            <a:r>
              <a:rPr lang="en-US" altLang="en-GB" sz="2000">
                <a:sym typeface="+mn-ea"/>
              </a:rPr>
              <a:t>  = </a:t>
            </a:r>
            <a:r>
              <a:rPr lang="en-US" altLang="en-GB" sz="2000">
                <a:sym typeface="+mn-ea"/>
              </a:rPr>
              <a:t>1100010000011101001001000000</a:t>
            </a:r>
            <a:endParaRPr lang="en-US" altLang="en-GB" sz="2000"/>
          </a:p>
          <a:p>
            <a:pPr marL="0" indent="0">
              <a:buNone/>
            </a:pPr>
            <a:endParaRPr lang="en-US" altLang="en-GB" sz="2000">
              <a:sym typeface="+mn-ea"/>
            </a:endParaRPr>
          </a:p>
          <a:p>
            <a:pPr marL="0" indent="0">
              <a:buNone/>
            </a:pPr>
            <a:endParaRPr lang="en-US" altLang="en-GB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50950" y="10306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23190"/>
            <a:ext cx="11369040" cy="685990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GB"/>
              <a:t> </a:t>
            </a:r>
            <a:r>
              <a:rPr lang="en-US" altLang="en-GB" sz="2000">
                <a:solidFill>
                  <a:schemeClr val="accent2"/>
                </a:solidFill>
              </a:rPr>
              <a:t>step 5</a:t>
            </a:r>
            <a:r>
              <a:rPr lang="en-US" altLang="en-GB" sz="2000"/>
              <a:t> : use left shift  and generating 16 round subkeys.</a:t>
            </a:r>
            <a:r>
              <a:rPr lang="en-US" altLang="en-GB" sz="2400"/>
              <a:t>  </a:t>
            </a:r>
            <a:r>
              <a:rPr lang="en-US" altLang="en-GB" sz="2000"/>
              <a:t> </a:t>
            </a:r>
            <a:r>
              <a:rPr lang="en-US" altLang="en-GB"/>
              <a:t>           </a:t>
            </a:r>
            <a:endParaRPr lang="en-US" altLang="en-GB">
              <a:latin typeface="Franklin Gothic Medium" panose="020B0603020102020204" charset="0"/>
              <a:cs typeface="Franklin Gothic Medium" panose="020B0603020102020204" charset="0"/>
            </a:endParaRPr>
          </a:p>
          <a:p>
            <a:pPr marL="0" indent="0">
              <a:buNone/>
            </a:pPr>
            <a:endParaRPr lang="en-US" altLang="en-GB">
              <a:latin typeface="Franklin Gothic Medium" panose="020B0603020102020204" charset="0"/>
              <a:cs typeface="Franklin Gothic Medium" panose="020B0603020102020204" charset="0"/>
            </a:endParaRPr>
          </a:p>
          <a:p>
            <a:pPr marL="0" indent="0">
              <a:buNone/>
            </a:pPr>
            <a:r>
              <a:rPr lang="en-US" altLang="en-GB"/>
              <a:t>       </a:t>
            </a:r>
            <a:endParaRPr lang="en-US" altLang="en-GB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354965" y="508635"/>
          <a:ext cx="8808085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95"/>
                <a:gridCol w="3670935"/>
                <a:gridCol w="374205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Rounds(n)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Cn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Dn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0000000111111110000000000100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0001100010000011101001001000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0000001111111100000000001000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0011000100000111010010010000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0000111111110000000000100000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1100010000011101001001000000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0011111111000000000010000000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0001000001110100100100000011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5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1111111100000000001000000000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0100000111010010010000001100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6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1111110000000000100000000011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0000011101001001000000110001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7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1111000000000010000000001111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0001110100100100000011000100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1100000000001000000000111111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0111010010010000001100010000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9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1000000000010000000001111111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1110100100100000011000100000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0000000001000000000111111110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1010010010000001100010000011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0000000100000000011111111000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1001001000000110001000001110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12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0000010000000001111111100000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0100100000011000100000111010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0001000000000111111110000000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0010000001100010000011101001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14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0100000000011111111000000000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1000000110001000001110100100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15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0000000001111111100000000001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0000011000100000111010010010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16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0000000011111111000000000010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0000110001000001110100100100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" y="287655"/>
            <a:ext cx="11616690" cy="6420485"/>
          </a:xfrm>
        </p:spPr>
        <p:txBody>
          <a:bodyPr/>
          <a:p>
            <a:pPr marL="0" indent="0">
              <a:buNone/>
            </a:pP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</a:rPr>
              <a:t>e. Concatenate C</a:t>
            </a:r>
            <a:r>
              <a:rPr lang="en-US" altLang="en-GB" sz="1600" b="1">
                <a:solidFill>
                  <a:schemeClr val="accent2">
                    <a:lumMod val="75000"/>
                  </a:schemeClr>
                </a:solidFill>
              </a:rPr>
              <a:t>n</a:t>
            </a: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</a:rPr>
              <a:t> and D</a:t>
            </a:r>
            <a:r>
              <a:rPr lang="en-US" altLang="en-GB" sz="1600" b="1">
                <a:solidFill>
                  <a:schemeClr val="accent2">
                    <a:lumMod val="75000"/>
                  </a:schemeClr>
                </a:solidFill>
              </a:rPr>
              <a:t>n</a:t>
            </a:r>
            <a:endParaRPr lang="en-US" altLang="en-GB" sz="1600" b="1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GB" sz="2000" b="1">
                <a:solidFill>
                  <a:schemeClr val="tx1"/>
                </a:solidFill>
              </a:rPr>
              <a:t>C</a:t>
            </a:r>
            <a:r>
              <a:rPr lang="en-US" altLang="en-GB" sz="1600" b="1">
                <a:solidFill>
                  <a:schemeClr val="tx1"/>
                </a:solidFill>
              </a:rPr>
              <a:t>1 || </a:t>
            </a:r>
            <a:r>
              <a:rPr lang="en-US" altLang="en-GB" sz="2000" b="1">
                <a:solidFill>
                  <a:schemeClr val="tx1"/>
                </a:solidFill>
              </a:rPr>
              <a:t>D</a:t>
            </a:r>
            <a:r>
              <a:rPr lang="en-US" altLang="en-GB" sz="1600" b="1">
                <a:solidFill>
                  <a:schemeClr val="tx1"/>
                </a:solidFill>
              </a:rPr>
              <a:t>1 = </a:t>
            </a:r>
            <a:r>
              <a:rPr lang="en-US" altLang="en-GB" sz="2000">
                <a:sym typeface="+mn-ea"/>
              </a:rPr>
              <a:t>0000000111111110000000000100 0001100010000011101001001000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 b="1">
                <a:solidFill>
                  <a:schemeClr val="tx1"/>
                </a:solidFill>
              </a:rPr>
              <a:t>C</a:t>
            </a:r>
            <a:r>
              <a:rPr lang="en-US" altLang="en-GB" sz="1600">
                <a:solidFill>
                  <a:schemeClr val="tx1"/>
                </a:solidFill>
              </a:rPr>
              <a:t>2</a:t>
            </a:r>
            <a:r>
              <a:rPr lang="en-US" altLang="en-GB" sz="2000" b="1">
                <a:solidFill>
                  <a:schemeClr val="tx1"/>
                </a:solidFill>
              </a:rPr>
              <a:t> || D</a:t>
            </a:r>
            <a:r>
              <a:rPr lang="en-US" altLang="en-GB" sz="1600">
                <a:solidFill>
                  <a:schemeClr val="tx1"/>
                </a:solidFill>
              </a:rPr>
              <a:t>2 </a:t>
            </a:r>
            <a:r>
              <a:rPr lang="en-US" altLang="en-GB" sz="2000">
                <a:solidFill>
                  <a:schemeClr val="tx1"/>
                </a:solidFill>
              </a:rPr>
              <a:t>= </a:t>
            </a:r>
            <a:r>
              <a:rPr lang="en-US" altLang="en-GB" sz="2000">
                <a:sym typeface="+mn-ea"/>
              </a:rPr>
              <a:t>0000001111111100000000001000 0011000100000111010010010000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/>
              <a:t>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  <a:sym typeface="+mn-ea"/>
              </a:rPr>
              <a:t>f. PC-2 (Permuted Choice 2) takes the 56 bits (C</a:t>
            </a:r>
            <a:r>
              <a:rPr lang="en-US" altLang="en-GB" sz="1600" b="1">
                <a:solidFill>
                  <a:schemeClr val="accent2">
                    <a:lumMod val="75000"/>
                  </a:schemeClr>
                </a:solidFill>
                <a:sym typeface="+mn-ea"/>
              </a:rPr>
              <a:t>n</a:t>
            </a: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  <a:sym typeface="+mn-ea"/>
              </a:rPr>
              <a:t>‖D</a:t>
            </a:r>
            <a:r>
              <a:rPr lang="en-US" altLang="en-GB" sz="1600" b="1">
                <a:solidFill>
                  <a:schemeClr val="accent2">
                    <a:lumMod val="75000"/>
                  </a:schemeClr>
                </a:solidFill>
                <a:sym typeface="+mn-ea"/>
              </a:rPr>
              <a:t>n</a:t>
            </a: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  <a:sym typeface="+mn-ea"/>
              </a:rPr>
              <a:t>) and selects 48 bits out of them, discarding 8 bits.</a:t>
            </a:r>
            <a:endParaRPr lang="en-US" altLang="en-GB" sz="2400" b="1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olidFill>
                  <a:schemeClr val="tx1"/>
                </a:solidFill>
                <a:sym typeface="+mn-ea"/>
              </a:rPr>
              <a:t>positions 9, 18, 22, 25, 35, 38, 43, 54 are removed then permuted using PC-2 table</a:t>
            </a:r>
            <a:endParaRPr lang="en-US" altLang="en-GB" sz="200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C1 || D1 = </a:t>
            </a:r>
            <a:r>
              <a:rPr lang="en-US" altLang="en-GB" sz="2000">
                <a:sym typeface="+mn-ea"/>
              </a:rPr>
              <a:t>0000000111111110000000000100 0001100010000011101001001000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                                               </a:t>
            </a:r>
            <a:endParaRPr lang="en-US" altLang="en-GB" sz="2000" b="1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GB" sz="2000"/>
              <a:t> </a:t>
            </a:r>
            <a:endParaRPr lang="en-US" altLang="en-GB" sz="2000"/>
          </a:p>
          <a:p>
            <a:pPr marL="0" indent="0">
              <a:buNone/>
            </a:pP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000">
                <a:solidFill>
                  <a:schemeClr val="tx1"/>
                </a:solidFill>
              </a:rPr>
              <a:t>                                                  </a:t>
            </a: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400" b="1">
                <a:solidFill>
                  <a:schemeClr val="tx1"/>
                </a:solidFill>
              </a:rPr>
              <a:t>K</a:t>
            </a:r>
            <a:r>
              <a:rPr lang="en-US" altLang="en-GB" sz="1800" b="1">
                <a:solidFill>
                  <a:schemeClr val="tx1"/>
                </a:solidFill>
              </a:rPr>
              <a:t>1 = </a:t>
            </a:r>
            <a:r>
              <a:rPr lang="en-US" altLang="en-GB" sz="2000">
                <a:sym typeface="+mn-ea"/>
              </a:rPr>
              <a:t>101000001001001011000010000110000110100001001001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>
                <a:solidFill>
                  <a:schemeClr val="tx1"/>
                </a:solidFill>
              </a:rPr>
              <a:t> now 48-bits round one key is generated Same step for all round</a:t>
            </a: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GB" sz="2000">
              <a:solidFill>
                <a:schemeClr val="tx1"/>
              </a:solidFill>
            </a:endParaRPr>
          </a:p>
        </p:txBody>
      </p:sp>
      <p:pic>
        <p:nvPicPr>
          <p:cNvPr id="6" name="Picture 5" descr="PC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4595" y="2499360"/>
            <a:ext cx="3005455" cy="199707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651760" y="4055110"/>
            <a:ext cx="1116965" cy="52070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2000" b="1">
                <a:solidFill>
                  <a:schemeClr val="tx1"/>
                </a:solidFill>
              </a:rPr>
              <a:t>pc-2</a:t>
            </a:r>
            <a:endParaRPr lang="en-US" altLang="en-GB" sz="2000" b="1">
              <a:solidFill>
                <a:schemeClr val="tx1"/>
              </a:solidFill>
            </a:endParaRPr>
          </a:p>
        </p:txBody>
      </p:sp>
      <p:sp>
        <p:nvSpPr>
          <p:cNvPr id="20" name="Down Arrow 19"/>
          <p:cNvSpPr/>
          <p:nvPr/>
        </p:nvSpPr>
        <p:spPr>
          <a:xfrm flipH="1">
            <a:off x="3112770" y="3553460"/>
            <a:ext cx="195580" cy="3289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Down Arrow 7"/>
          <p:cNvSpPr/>
          <p:nvPr/>
        </p:nvSpPr>
        <p:spPr>
          <a:xfrm flipH="1">
            <a:off x="3112770" y="4748530"/>
            <a:ext cx="195580" cy="3289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615" y="526415"/>
            <a:ext cx="10515600" cy="4351338"/>
          </a:xfrm>
        </p:spPr>
        <p:txBody>
          <a:bodyPr/>
          <a:p>
            <a:pPr marL="1828800" lvl="4" indent="0">
              <a:buClr>
                <a:srgbClr val="1F4E79"/>
              </a:buClr>
              <a:buSzPct val="120000"/>
              <a:buFont typeface="+mj-lt"/>
              <a:buNone/>
            </a:pPr>
            <a:endParaRPr lang="en-US" altLang="en-GB" b="1">
              <a:solidFill>
                <a:schemeClr val="accent1">
                  <a:lumMod val="50000"/>
                </a:schemeClr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  <a:p>
            <a:pPr marL="1828800" lvl="4" indent="0">
              <a:buClr>
                <a:srgbClr val="1F4E79"/>
              </a:buClr>
              <a:buSzPct val="120000"/>
              <a:buFont typeface="+mj-lt"/>
              <a:buNone/>
            </a:pPr>
            <a:r>
              <a:rPr lang="en-US" altLang="en-GB" b="1">
                <a:solidFill>
                  <a:schemeClr val="accent1">
                    <a:lumMod val="50000"/>
                  </a:schemeClr>
                </a:solidFill>
                <a:latin typeface="Franklin Gothic Medium" panose="020B0603020102020204" charset="0"/>
                <a:cs typeface="Franklin Gothic Medium" panose="020B0603020102020204" charset="0"/>
              </a:rPr>
              <a:t>  </a:t>
            </a:r>
            <a:r>
              <a:rPr lang="en-US" altLang="en-GB"/>
              <a:t>                         </a:t>
            </a:r>
            <a:endParaRPr lang="en-US" altLang="en-GB"/>
          </a:p>
        </p:txBody>
      </p:sp>
      <p:sp>
        <p:nvSpPr>
          <p:cNvPr id="8" name="Text Box 7"/>
          <p:cNvSpPr txBox="1"/>
          <p:nvPr/>
        </p:nvSpPr>
        <p:spPr>
          <a:xfrm>
            <a:off x="124460" y="83185"/>
            <a:ext cx="11619865" cy="6701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                                                   16 ROUNDS GENERATED KEY</a:t>
            </a:r>
            <a:endParaRPr lang="en-US" altLang="en-GB"/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1503680" y="462915"/>
          <a:ext cx="8533130" cy="6217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812165"/>
                <a:gridCol w="772096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round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key(48 bits)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101000001001001011000010000110000110100001001001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101000000001001001010010011000000000110000110101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001001000101101001010000100010110000100010011010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000001100111000101010000000001010101001100010001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5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000011100100010101010001000100110000000001100100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6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010011110100000100001001110000001000100110000100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7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000010111000000110001001000000000010011010011101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000110010000100010001011011110110001000010000001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9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000110010000101010001000001010101010001000100110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000100000011100010001100001101000100110110000010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000100000010110001000100000011000000000001010011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12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010000000110110000100100110001111110000001000000</a:t>
                      </a:r>
                      <a:endParaRPr lang="en-US" altLang="en-GB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110000001010010100100100001000001000011101001000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14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110000001000011000100011100110001001010000000110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15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111000011001001000100010010011000100011010100000</a:t>
                      </a:r>
                      <a:endParaRPr lang="en-US" altLang="en-GB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16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101000001001001000101010000000001111100010100000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595" y="158750"/>
            <a:ext cx="11805285" cy="6567170"/>
          </a:xfrm>
        </p:spPr>
        <p:txBody>
          <a:bodyPr>
            <a:normAutofit lnSpcReduction="10000"/>
          </a:bodyPr>
          <a:p>
            <a:pPr marL="3314700" lvl="6" indent="-571500">
              <a:buSzPct val="120000"/>
              <a:buFont typeface="+mj-lt"/>
              <a:buAutoNum type="romanUcPeriod" startAt="2"/>
            </a:pPr>
            <a:r>
              <a:rPr lang="en-US" altLang="en-GB" sz="2400" b="1"/>
              <a:t>Data Encryption</a:t>
            </a:r>
            <a:r>
              <a:rPr lang="en-US" altLang="en-GB"/>
              <a:t>                        </a:t>
            </a:r>
            <a:endParaRPr lang="en-US" altLang="en-GB" sz="200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286000" lvl="4" indent="-457200">
              <a:buFont typeface="+mj-lt"/>
              <a:buAutoNum type="arabicPeriod"/>
            </a:pPr>
            <a:r>
              <a:rPr lang="en-US" altLang="en-GB" sz="2400" b="1">
                <a:solidFill>
                  <a:schemeClr val="accent1">
                    <a:lumMod val="75000"/>
                  </a:schemeClr>
                </a:solidFill>
              </a:rPr>
              <a:t>Initial permutation</a:t>
            </a:r>
            <a:endParaRPr lang="en-US" altLang="en-GB" sz="2400" b="1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+mj-lt"/>
              <a:buNone/>
            </a:pPr>
            <a:r>
              <a:rPr lang="en-US" altLang="en-GB" sz="2000">
                <a:solidFill>
                  <a:schemeClr val="accent2">
                    <a:lumMod val="60000"/>
                    <a:lumOff val="40000"/>
                  </a:schemeClr>
                </a:solidFill>
              </a:rPr>
              <a:t>example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 plaintext : </a:t>
            </a:r>
            <a:r>
              <a:rPr lang="en-US" altLang="en-GB" sz="2000" b="1"/>
              <a:t>SUCCESS</a:t>
            </a:r>
            <a:endParaRPr lang="en-US" altLang="en-GB" sz="2000" b="1"/>
          </a:p>
          <a:p>
            <a:pPr marL="0" indent="0">
              <a:buNone/>
            </a:pPr>
            <a:r>
              <a:rPr lang="en-US" altLang="en-GB" sz="2000"/>
              <a:t>  Key: </a:t>
            </a:r>
            <a:r>
              <a:rPr lang="en-US" altLang="en-GB" sz="2000" b="1"/>
              <a:t>DISCIPLINE</a:t>
            </a:r>
            <a:r>
              <a:rPr lang="en-US" altLang="en-GB" sz="2000"/>
              <a:t>   </a:t>
            </a:r>
            <a:r>
              <a:rPr lang="en-US" altLang="en-GB" sz="2000">
                <a:solidFill>
                  <a:schemeClr val="accent1">
                    <a:lumMod val="75000"/>
                  </a:schemeClr>
                </a:solidFill>
              </a:rPr>
              <a:t>we do not need key in IP we use it later in 16 rounds</a:t>
            </a:r>
            <a:r>
              <a:rPr lang="en-US" altLang="en-GB" sz="2000"/>
              <a:t> 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>
                <a:solidFill>
                  <a:srgbClr val="FF0000"/>
                </a:solidFill>
              </a:rPr>
              <a:t>step 1</a:t>
            </a:r>
            <a:r>
              <a:rPr lang="en-US" altLang="en-GB" sz="2000"/>
              <a:t> :  DES works only on 64 bits (8 bytes at a time ).</a:t>
            </a:r>
            <a:endParaRPr lang="en-US" altLang="en-GB" sz="2000"/>
          </a:p>
          <a:p>
            <a:r>
              <a:rPr lang="en-US" altLang="en-GB" sz="2000"/>
              <a:t>Each English letter = 1 byte = 8 bits.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/>
              <a:t>  </a:t>
            </a:r>
            <a:r>
              <a:rPr lang="en-US" altLang="en-GB" sz="2400"/>
              <a:t>So: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000"/>
              <a:t>“S U C C E S S” </a:t>
            </a:r>
            <a:r>
              <a:rPr lang="en-US" altLang="en-US" sz="2000"/>
              <a:t>→</a:t>
            </a:r>
            <a:r>
              <a:rPr lang="en-US" altLang="en-GB" sz="2000"/>
              <a:t> 7 letters </a:t>
            </a:r>
            <a:r>
              <a:rPr lang="en-US" altLang="en-US" sz="2000"/>
              <a:t>→</a:t>
            </a:r>
            <a:r>
              <a:rPr lang="en-US" altLang="en-GB" sz="2000"/>
              <a:t> 7 </a:t>
            </a:r>
            <a:r>
              <a:rPr lang="en-US" altLang="en-US" sz="2000"/>
              <a:t>×</a:t>
            </a:r>
            <a:r>
              <a:rPr lang="en-US" altLang="en-GB" sz="2000"/>
              <a:t> 8 = 56 bits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        But DES needs 64 bits — exactly 8 characters.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So we pad with one extra space (or 0 bits):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We’ll use: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Plaintext = "SUCCESS " (with a space at the end)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plaintext(Hex) = </a:t>
            </a:r>
            <a:r>
              <a:rPr lang="en-US" altLang="en-GB" sz="2000" b="1">
                <a:solidFill>
                  <a:schemeClr val="accent1">
                    <a:lumMod val="50000"/>
                  </a:schemeClr>
                </a:solidFill>
                <a:sym typeface="+mn-ea"/>
              </a:rPr>
              <a:t>53554343455353</a:t>
            </a:r>
            <a:r>
              <a:rPr lang="en-US" altLang="en-GB" sz="2000" b="1">
                <a:solidFill>
                  <a:schemeClr val="accent1">
                    <a:lumMod val="50000"/>
                  </a:schemeClr>
                </a:solidFill>
                <a:sym typeface="+mn-ea"/>
              </a:rPr>
              <a:t>20</a:t>
            </a:r>
            <a:endParaRPr lang="en-US" altLang="en-GB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405" y="452755"/>
            <a:ext cx="11246485" cy="6297930"/>
          </a:xfrm>
        </p:spPr>
        <p:txBody>
          <a:bodyPr/>
          <a:p>
            <a:pPr marL="0" indent="0">
              <a:buNone/>
            </a:pPr>
            <a:r>
              <a:rPr lang="en-US" altLang="en-GB" sz="2000">
                <a:solidFill>
                  <a:srgbClr val="FF0000"/>
                </a:solidFill>
              </a:rPr>
              <a:t>step 2: </a:t>
            </a:r>
            <a:r>
              <a:rPr lang="en-US" altLang="en-GB" sz="2000">
                <a:solidFill>
                  <a:schemeClr val="tx1"/>
                </a:solidFill>
              </a:rPr>
              <a:t>Convert letters to binary (ASCII).</a:t>
            </a:r>
            <a:endParaRPr lang="en-US" altLang="en-GB" sz="20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1329690" y="1004570"/>
          <a:ext cx="8531860" cy="356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949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Character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ASCII(dec)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ASCII (hex)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Binary(bits)</a:t>
                      </a:r>
                      <a:endParaRPr lang="en-US" altLang="en-GB"/>
                    </a:p>
                  </a:txBody>
                  <a:tcPr/>
                </a:tc>
              </a:tr>
              <a:tr h="3956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53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01010011</a:t>
                      </a:r>
                      <a:endParaRPr lang="en-US" altLang="en-GB"/>
                    </a:p>
                  </a:txBody>
                  <a:tcPr/>
                </a:tc>
              </a:tr>
              <a:tr h="3949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U                  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85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55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01010101</a:t>
                      </a:r>
                      <a:endParaRPr lang="en-US" altLang="en-GB"/>
                    </a:p>
                  </a:txBody>
                  <a:tcPr/>
                </a:tc>
              </a:tr>
              <a:tr h="400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67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01000011</a:t>
                      </a:r>
                      <a:endParaRPr lang="en-US" altLang="en-GB"/>
                    </a:p>
                  </a:txBody>
                  <a:tcPr/>
                </a:tc>
              </a:tr>
              <a:tr h="3949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67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01000011</a:t>
                      </a:r>
                      <a:endParaRPr lang="en-US" altLang="en-GB"/>
                    </a:p>
                  </a:txBody>
                  <a:tcPr/>
                </a:tc>
              </a:tr>
              <a:tr h="3949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69     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45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01000101</a:t>
                      </a:r>
                      <a:endParaRPr lang="en-US" altLang="en-GB"/>
                    </a:p>
                  </a:txBody>
                  <a:tcPr/>
                </a:tc>
              </a:tr>
              <a:tr h="3949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53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01010011</a:t>
                      </a:r>
                      <a:endParaRPr lang="en-US" altLang="en-GB"/>
                    </a:p>
                  </a:txBody>
                  <a:tcPr/>
                </a:tc>
              </a:tr>
              <a:tr h="3956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53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01010011</a:t>
                      </a:r>
                      <a:endParaRPr lang="en-US" altLang="en-GB"/>
                    </a:p>
                  </a:txBody>
                  <a:tcPr/>
                </a:tc>
              </a:tr>
              <a:tr h="3949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(space)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32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00100000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1022350" y="5530215"/>
            <a:ext cx="9615170" cy="958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 i="1"/>
              <a:t>plaintext in bits</a:t>
            </a:r>
            <a:r>
              <a:rPr lang="en-US" altLang="en-GB"/>
              <a:t> : 01010011 01010101 01000011 01000011 01000101 0</a:t>
            </a:r>
            <a:r>
              <a:rPr lang="en-US" altLang="en-GB">
                <a:highlight>
                  <a:srgbClr val="FF00FF"/>
                </a:highlight>
              </a:rPr>
              <a:t>1</a:t>
            </a:r>
            <a:r>
              <a:rPr lang="en-US" altLang="en-GB"/>
              <a:t>010011 0</a:t>
            </a:r>
            <a:r>
              <a:rPr lang="en-US" altLang="en-GB">
                <a:highlight>
                  <a:srgbClr val="00FFFF"/>
                </a:highlight>
              </a:rPr>
              <a:t>1</a:t>
            </a:r>
            <a:r>
              <a:rPr lang="en-US" altLang="en-GB"/>
              <a:t>010011 0</a:t>
            </a:r>
            <a:r>
              <a:rPr lang="en-US" altLang="en-GB">
                <a:highlight>
                  <a:srgbClr val="00FF00"/>
                </a:highlight>
              </a:rPr>
              <a:t>0</a:t>
            </a:r>
            <a:r>
              <a:rPr lang="en-US" altLang="en-GB"/>
              <a:t>100000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i="1"/>
              <a:t>              after IP  </a:t>
            </a:r>
            <a:r>
              <a:rPr lang="en-US" altLang="en-GB"/>
              <a:t>: </a:t>
            </a:r>
            <a:r>
              <a:rPr lang="en-US" altLang="en-GB">
                <a:highlight>
                  <a:srgbClr val="00FF00"/>
                </a:highlight>
              </a:rPr>
              <a:t>0</a:t>
            </a:r>
            <a:r>
              <a:rPr lang="en-US" altLang="en-GB">
                <a:highlight>
                  <a:srgbClr val="00FFFF"/>
                </a:highlight>
              </a:rPr>
              <a:t>1</a:t>
            </a:r>
            <a:r>
              <a:rPr lang="en-US" altLang="en-GB">
                <a:highlight>
                  <a:srgbClr val="FF00FF"/>
                </a:highlight>
              </a:rPr>
              <a:t>1</a:t>
            </a:r>
            <a:r>
              <a:rPr lang="en-US" altLang="en-GB"/>
              <a:t>11111 01100011 00010010 01111111 00000000 10000000 00000000 01101101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789940" y="4908550"/>
            <a:ext cx="4554855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>
                <a:solidFill>
                  <a:srgbClr val="FF0000"/>
                </a:solidFill>
                <a:sym typeface="+mn-ea"/>
              </a:rPr>
              <a:t>step 3:</a:t>
            </a:r>
            <a:r>
              <a:rPr lang="en-US" altLang="en-GB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en-GB" sz="2000">
                <a:sym typeface="+mn-ea"/>
              </a:rPr>
              <a:t>Perform the permutation</a:t>
            </a:r>
            <a:endParaRPr lang="en-US" altLang="en-GB">
              <a:solidFill>
                <a:srgbClr val="FF0000"/>
              </a:solidFill>
              <a:sym typeface="+mn-ea"/>
            </a:endParaRPr>
          </a:p>
          <a:p>
            <a:endParaRPr lang="en-US" altLang="en-GB" sz="2400"/>
          </a:p>
          <a:p>
            <a:endParaRPr lang="en-US" altLang="en-GB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179070" y="410845"/>
            <a:ext cx="11773535" cy="652589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GB" sz="2000">
                <a:solidFill>
                  <a:schemeClr val="accent2"/>
                </a:solidFill>
              </a:rPr>
              <a:t>step 4</a:t>
            </a:r>
            <a:r>
              <a:rPr lang="en-US" altLang="en-GB" sz="2000"/>
              <a:t>: devide this bits into two parts left and right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  left L: </a:t>
            </a:r>
            <a:r>
              <a:rPr lang="en-US" altLang="en-GB" sz="2000">
                <a:sym typeface="+mn-ea"/>
              </a:rPr>
              <a:t>01111111 01100011 00010010 01111111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/>
              <a:t>   right R: </a:t>
            </a:r>
            <a:r>
              <a:rPr lang="en-US" altLang="en-GB" sz="2000">
                <a:sym typeface="+mn-ea"/>
              </a:rPr>
              <a:t>00000000 </a:t>
            </a:r>
            <a:r>
              <a:rPr lang="en-US" altLang="en-GB" sz="2000">
                <a:sym typeface="+mn-ea"/>
              </a:rPr>
              <a:t>10000000 00000000 01101101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        </a:t>
            </a:r>
            <a:r>
              <a:rPr lang="en-US" altLang="en-GB" sz="2000">
                <a:sym typeface="+mn-ea"/>
              </a:rPr>
              <a:t>                       </a:t>
            </a:r>
            <a:r>
              <a:rPr lang="en-US" altLang="en-GB" sz="24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2.  A process in Each of 16 rounds</a:t>
            </a:r>
            <a:endParaRPr lang="en-US" altLang="en-GB" sz="2400" b="1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GB" sz="24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          Round-1</a:t>
            </a:r>
            <a:r>
              <a:rPr lang="en-US" altLang="en-GB" sz="24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 </a:t>
            </a:r>
            <a:endParaRPr lang="en-US" altLang="en-GB" sz="2400" b="1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GB" sz="2220">
                <a:solidFill>
                  <a:schemeClr val="tx1"/>
                </a:solidFill>
                <a:sym typeface="+mn-ea"/>
              </a:rPr>
              <a:t>Inputs to Round 1 (from IP output)</a:t>
            </a:r>
            <a:endParaRPr lang="en-US" altLang="en-GB" sz="222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GB" sz="2220">
                <a:sym typeface="+mn-ea"/>
              </a:rPr>
              <a:t>  left </a:t>
            </a:r>
            <a:r>
              <a:rPr lang="en-US" altLang="en-GB" sz="2220" b="1">
                <a:sym typeface="+mn-ea"/>
              </a:rPr>
              <a:t>L</a:t>
            </a:r>
            <a:r>
              <a:rPr lang="en-US" altLang="en-GB" sz="2000">
                <a:sym typeface="+mn-ea"/>
              </a:rPr>
              <a:t>0</a:t>
            </a:r>
            <a:r>
              <a:rPr lang="en-US" altLang="en-GB" sz="2220">
                <a:sym typeface="+mn-ea"/>
              </a:rPr>
              <a:t>: </a:t>
            </a:r>
            <a:r>
              <a:rPr lang="en-US" altLang="en-GB" sz="2220">
                <a:sym typeface="+mn-ea"/>
              </a:rPr>
              <a:t>01111111 01100011 00010010 01111111</a:t>
            </a:r>
            <a:endParaRPr lang="en-US" altLang="en-GB" sz="2220">
              <a:sym typeface="+mn-ea"/>
            </a:endParaRPr>
          </a:p>
          <a:p>
            <a:pPr marL="0" indent="0">
              <a:buNone/>
            </a:pPr>
            <a:r>
              <a:rPr lang="en-US" altLang="en-GB" sz="2220">
                <a:sym typeface="+mn-ea"/>
              </a:rPr>
              <a:t>   right </a:t>
            </a:r>
            <a:r>
              <a:rPr lang="en-US" altLang="en-GB" sz="2220" b="1">
                <a:sym typeface="+mn-ea"/>
              </a:rPr>
              <a:t>R</a:t>
            </a:r>
            <a:r>
              <a:rPr lang="en-US" altLang="en-GB" sz="2000">
                <a:sym typeface="+mn-ea"/>
              </a:rPr>
              <a:t>0</a:t>
            </a:r>
            <a:r>
              <a:rPr lang="en-US" altLang="en-GB" sz="2220">
                <a:sym typeface="+mn-ea"/>
              </a:rPr>
              <a:t>: </a:t>
            </a:r>
            <a:r>
              <a:rPr lang="en-US" altLang="en-GB" sz="2220">
                <a:sym typeface="+mn-ea"/>
              </a:rPr>
              <a:t>00000000 10000000 00000000 01101101</a:t>
            </a:r>
            <a:endParaRPr lang="en-US" altLang="en-GB" sz="2220">
              <a:sym typeface="+mn-ea"/>
            </a:endParaRPr>
          </a:p>
          <a:p>
            <a:pPr marL="0" indent="0">
              <a:buNone/>
            </a:pPr>
            <a:endParaRPr lang="en-US" altLang="en-GB" sz="2220">
              <a:sym typeface="+mn-ea"/>
            </a:endParaRPr>
          </a:p>
          <a:p>
            <a:pPr marL="0" indent="0">
              <a:buNone/>
            </a:pPr>
            <a:r>
              <a:rPr lang="en-US" altLang="en-GB" sz="2220" b="1">
                <a:sym typeface="+mn-ea"/>
              </a:rPr>
              <a:t>L</a:t>
            </a:r>
            <a:r>
              <a:rPr lang="en-US" altLang="en-GB" sz="1780">
                <a:sym typeface="+mn-ea"/>
              </a:rPr>
              <a:t>1</a:t>
            </a:r>
            <a:r>
              <a:rPr lang="en-US" altLang="en-GB" sz="2220">
                <a:sym typeface="+mn-ea"/>
              </a:rPr>
              <a:t> = </a:t>
            </a:r>
            <a:r>
              <a:rPr lang="en-US" altLang="en-GB" sz="2220" b="1">
                <a:sym typeface="+mn-ea"/>
              </a:rPr>
              <a:t>R</a:t>
            </a:r>
            <a:r>
              <a:rPr lang="en-US" altLang="en-GB" sz="1780">
                <a:sym typeface="+mn-ea"/>
              </a:rPr>
              <a:t>0</a:t>
            </a:r>
            <a:endParaRPr lang="en-US" altLang="en-GB" sz="2220">
              <a:sym typeface="+mn-ea"/>
            </a:endParaRPr>
          </a:p>
          <a:p>
            <a:pPr marL="0" indent="0">
              <a:buNone/>
            </a:pPr>
            <a:r>
              <a:rPr lang="en-US" altLang="en-GB" sz="2220" b="1">
                <a:sym typeface="+mn-ea"/>
              </a:rPr>
              <a:t>R</a:t>
            </a:r>
            <a:r>
              <a:rPr lang="en-US" altLang="en-GB" sz="1780">
                <a:sym typeface="+mn-ea"/>
              </a:rPr>
              <a:t>1</a:t>
            </a:r>
            <a:r>
              <a:rPr lang="en-US" altLang="en-GB" sz="2220" b="1">
                <a:sym typeface="+mn-ea"/>
              </a:rPr>
              <a:t> </a:t>
            </a:r>
            <a:r>
              <a:rPr lang="en-US" altLang="en-GB" sz="2220">
                <a:sym typeface="+mn-ea"/>
              </a:rPr>
              <a:t>= </a:t>
            </a:r>
            <a:r>
              <a:rPr lang="en-US" altLang="en-GB" sz="2220" b="1">
                <a:sym typeface="+mn-ea"/>
              </a:rPr>
              <a:t>L</a:t>
            </a:r>
            <a:r>
              <a:rPr lang="en-US" altLang="en-GB" sz="1780">
                <a:sym typeface="+mn-ea"/>
              </a:rPr>
              <a:t>0</a:t>
            </a:r>
            <a:r>
              <a:rPr lang="en-US" altLang="en-GB" sz="2220">
                <a:sym typeface="+mn-ea"/>
              </a:rPr>
              <a:t> </a:t>
            </a:r>
            <a:r>
              <a:rPr lang="en-US" altLang="en-GB" sz="2220" b="1">
                <a:sym typeface="+mn-ea"/>
              </a:rPr>
              <a:t>XOR</a:t>
            </a:r>
            <a:r>
              <a:rPr lang="en-US" altLang="en-GB" sz="2220">
                <a:sym typeface="+mn-ea"/>
              </a:rPr>
              <a:t> f(</a:t>
            </a:r>
            <a:r>
              <a:rPr lang="en-US" altLang="en-GB" sz="2220" b="1">
                <a:sym typeface="+mn-ea"/>
              </a:rPr>
              <a:t>R</a:t>
            </a:r>
            <a:r>
              <a:rPr lang="en-US" altLang="en-GB" sz="1780">
                <a:sym typeface="+mn-ea"/>
              </a:rPr>
              <a:t>0</a:t>
            </a:r>
            <a:r>
              <a:rPr lang="en-US" altLang="en-GB" sz="2220">
                <a:sym typeface="+mn-ea"/>
              </a:rPr>
              <a:t> </a:t>
            </a:r>
            <a:r>
              <a:rPr lang="en-US" altLang="en-GB" sz="2220" b="1">
                <a:sym typeface="+mn-ea"/>
              </a:rPr>
              <a:t>XOR</a:t>
            </a:r>
            <a:r>
              <a:rPr lang="en-US" altLang="en-GB" sz="2220">
                <a:sym typeface="+mn-ea"/>
              </a:rPr>
              <a:t>  </a:t>
            </a:r>
            <a:r>
              <a:rPr lang="en-US" altLang="en-GB" sz="2220" b="1">
                <a:sym typeface="+mn-ea"/>
              </a:rPr>
              <a:t>K</a:t>
            </a:r>
            <a:r>
              <a:rPr lang="en-US" altLang="en-GB" sz="1780">
                <a:sym typeface="+mn-ea"/>
              </a:rPr>
              <a:t>1</a:t>
            </a:r>
            <a:r>
              <a:rPr lang="en-US" altLang="en-GB" sz="2220">
                <a:sym typeface="+mn-ea"/>
              </a:rPr>
              <a:t>)</a:t>
            </a:r>
            <a:endParaRPr lang="en-US" altLang="en-GB" sz="2220">
              <a:sym typeface="+mn-ea"/>
            </a:endParaRPr>
          </a:p>
          <a:p>
            <a:pPr marL="0" indent="0">
              <a:buNone/>
            </a:pPr>
            <a:endParaRPr lang="en-US" altLang="en-GB" sz="2220"/>
          </a:p>
          <a:p>
            <a:pPr marL="0" indent="0">
              <a:buNone/>
            </a:pPr>
            <a:r>
              <a:rPr lang="en-US" altLang="en-GB" sz="2220" b="1">
                <a:sym typeface="+mn-ea"/>
              </a:rPr>
              <a:t>L</a:t>
            </a:r>
            <a:r>
              <a:rPr lang="en-US" altLang="en-GB" sz="2220">
                <a:sym typeface="+mn-ea"/>
              </a:rPr>
              <a:t>1 = </a:t>
            </a:r>
            <a:r>
              <a:rPr lang="en-US" altLang="en-GB" sz="2220">
                <a:sym typeface="+mn-ea"/>
              </a:rPr>
              <a:t> 00000000 10000000 00000000 01101101</a:t>
            </a:r>
            <a:endParaRPr lang="en-US" altLang="en-GB" sz="2220">
              <a:sym typeface="+mn-ea"/>
            </a:endParaRPr>
          </a:p>
          <a:p>
            <a:pPr marL="0" indent="0">
              <a:buNone/>
            </a:pPr>
            <a:r>
              <a:rPr lang="en-US" altLang="en-GB" sz="2220">
                <a:sym typeface="+mn-ea"/>
              </a:rPr>
              <a:t>    -To get newRight first we have to do </a:t>
            </a:r>
            <a:r>
              <a:rPr lang="en-US" altLang="en-GB" sz="2220" b="1">
                <a:sym typeface="+mn-ea"/>
              </a:rPr>
              <a:t>f- function  </a:t>
            </a:r>
            <a:r>
              <a:rPr lang="en-US" altLang="en-GB" sz="2220">
                <a:sym typeface="+mn-ea"/>
              </a:rPr>
              <a:t>which means Right XOR Key.</a:t>
            </a:r>
            <a:endParaRPr lang="en-US" altLang="en-GB" sz="2220">
              <a:sym typeface="+mn-ea"/>
            </a:endParaRPr>
          </a:p>
          <a:p>
            <a:pPr marL="0" indent="0">
              <a:buNone/>
            </a:pPr>
            <a:r>
              <a:rPr lang="en-US" altLang="en-GB" sz="2220">
                <a:sym typeface="+mn-ea"/>
              </a:rPr>
              <a:t>   - key is 48-bits binary number and the Right bit is 32-bits binary number .</a:t>
            </a:r>
            <a:endParaRPr lang="en-US" altLang="en-GB" sz="2220">
              <a:sym typeface="+mn-ea"/>
            </a:endParaRPr>
          </a:p>
          <a:p>
            <a:pPr marL="0" indent="0">
              <a:buNone/>
            </a:pPr>
            <a:r>
              <a:rPr lang="en-US" altLang="en-GB" sz="2220">
                <a:sym typeface="+mn-ea"/>
              </a:rPr>
              <a:t>    -so we have to Expand the right part first to 48 bits</a:t>
            </a:r>
            <a:endParaRPr lang="en-US" altLang="en-GB" sz="2220">
              <a:sym typeface="+mn-ea"/>
            </a:endParaRPr>
          </a:p>
          <a:p>
            <a:pPr marL="0" indent="0">
              <a:buNone/>
            </a:pP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/>
              <a:t>      </a:t>
            </a:r>
            <a:endParaRPr lang="en-US" altLang="en-GB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179070" y="200025"/>
            <a:ext cx="11773535" cy="6525895"/>
          </a:xfrm>
        </p:spPr>
        <p:txBody>
          <a:bodyPr/>
          <a:p>
            <a:pPr marL="0" indent="0">
              <a:buNone/>
            </a:pPr>
            <a:r>
              <a:rPr lang="en-US" altLang="en-GB" sz="2000"/>
              <a:t>      </a:t>
            </a:r>
            <a:endParaRPr lang="en-US" altLang="en-GB" sz="2000"/>
          </a:p>
        </p:txBody>
      </p:sp>
      <p:sp>
        <p:nvSpPr>
          <p:cNvPr id="3" name="Text Box 2"/>
          <p:cNvSpPr txBox="1"/>
          <p:nvPr/>
        </p:nvSpPr>
        <p:spPr>
          <a:xfrm>
            <a:off x="179705" y="337185"/>
            <a:ext cx="11139170" cy="1360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chemeClr val="tx2"/>
                </a:solidFill>
              </a:rPr>
              <a:t>    </a:t>
            </a: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  <a:sym typeface="+mn-ea"/>
              </a:rPr>
              <a:t>a. Expansion</a:t>
            </a:r>
            <a:endParaRPr lang="en-US" altLang="en-GB" b="1">
              <a:solidFill>
                <a:schemeClr val="tx2"/>
              </a:solidFill>
              <a:sym typeface="+mn-ea"/>
            </a:endParaRPr>
          </a:p>
          <a:p>
            <a:r>
              <a:rPr lang="en-US" altLang="en-GB" b="1">
                <a:solidFill>
                  <a:schemeClr val="accent1">
                    <a:lumMod val="75000"/>
                  </a:schemeClr>
                </a:solidFill>
                <a:sym typeface="+mn-ea"/>
              </a:rPr>
              <a:t>     </a:t>
            </a:r>
            <a:r>
              <a:rPr lang="en-US" altLang="en-GB">
                <a:solidFill>
                  <a:schemeClr val="tx1"/>
                </a:solidFill>
                <a:sym typeface="+mn-ea"/>
              </a:rPr>
              <a:t>Expand the 32 bits of Right(</a:t>
            </a:r>
            <a:r>
              <a:rPr lang="en-US" altLang="en-GB" sz="2000">
                <a:solidFill>
                  <a:schemeClr val="tx1"/>
                </a:solidFill>
                <a:sym typeface="+mn-ea"/>
              </a:rPr>
              <a:t>R</a:t>
            </a:r>
            <a:r>
              <a:rPr lang="en-US" altLang="en-GB">
                <a:solidFill>
                  <a:schemeClr val="tx1"/>
                </a:solidFill>
                <a:sym typeface="+mn-ea"/>
              </a:rPr>
              <a:t>) part to 48 bits</a:t>
            </a:r>
            <a:endParaRPr lang="en-US" altLang="en-GB">
              <a:solidFill>
                <a:schemeClr val="tx1"/>
              </a:solidFill>
              <a:sym typeface="+mn-ea"/>
            </a:endParaRPr>
          </a:p>
          <a:p>
            <a:r>
              <a:rPr lang="en-US" altLang="en-GB">
                <a:solidFill>
                  <a:schemeClr val="tx1"/>
                </a:solidFill>
                <a:sym typeface="+mn-ea"/>
              </a:rPr>
              <a:t>   </a:t>
            </a:r>
            <a:endParaRPr lang="en-US" altLang="en-GB">
              <a:solidFill>
                <a:schemeClr val="tx1"/>
              </a:solidFill>
              <a:sym typeface="+mn-ea"/>
            </a:endParaRPr>
          </a:p>
          <a:p>
            <a:r>
              <a:rPr lang="en-US" altLang="en-GB"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en-GB" b="1">
                <a:solidFill>
                  <a:schemeClr val="tx1"/>
                </a:solidFill>
                <a:sym typeface="+mn-ea"/>
              </a:rPr>
              <a:t>INPUT</a:t>
            </a:r>
            <a:r>
              <a:rPr lang="en-US" altLang="en-GB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GB">
                <a:sym typeface="+mn-ea"/>
              </a:rPr>
              <a:t> right </a:t>
            </a:r>
            <a:r>
              <a:rPr lang="en-US" altLang="en-GB" sz="2000" b="1">
                <a:sym typeface="+mn-ea"/>
              </a:rPr>
              <a:t>R</a:t>
            </a:r>
            <a:r>
              <a:rPr lang="en-US" altLang="en-GB">
                <a:sym typeface="+mn-ea"/>
              </a:rPr>
              <a:t>0: 00000000 10000000 00000000 01101101</a:t>
            </a:r>
            <a:endParaRPr lang="en-US" altLang="en-GB">
              <a:sym typeface="+mn-ea"/>
            </a:endParaRPr>
          </a:p>
          <a:p>
            <a:endParaRPr lang="en-US" altLang="en-GB">
              <a:solidFill>
                <a:schemeClr val="tx1"/>
              </a:solidFill>
              <a:sym typeface="+mn-ea"/>
            </a:endParaRPr>
          </a:p>
          <a:p>
            <a:endParaRPr lang="en-US" altLang="en-GB">
              <a:solidFill>
                <a:schemeClr val="tx1"/>
              </a:solidFill>
              <a:sym typeface="+mn-ea"/>
            </a:endParaRPr>
          </a:p>
          <a:p>
            <a:endParaRPr lang="en-US" altLang="en-GB">
              <a:solidFill>
                <a:schemeClr val="tx1"/>
              </a:solidFill>
              <a:sym typeface="+mn-ea"/>
            </a:endParaRPr>
          </a:p>
          <a:p>
            <a:endParaRPr lang="en-US" altLang="en-GB"/>
          </a:p>
          <a:p>
            <a:pPr indent="0">
              <a:buFont typeface="+mj-lt"/>
              <a:buNone/>
            </a:pPr>
            <a:r>
              <a:rPr lang="en-US" altLang="en-GB"/>
              <a:t>                         </a:t>
            </a:r>
            <a:endParaRPr lang="en-US" altLang="en-GB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097280" y="1954530"/>
          <a:ext cx="334137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2135"/>
                <a:gridCol w="553720"/>
                <a:gridCol w="553720"/>
                <a:gridCol w="553720"/>
                <a:gridCol w="553720"/>
                <a:gridCol w="55435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321945" y="5368290"/>
            <a:ext cx="9141460" cy="403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/>
              <a:t>after expansion  E(R</a:t>
            </a:r>
            <a:r>
              <a:rPr lang="en-US" altLang="en-US" b="1"/>
              <a:t>₀</a:t>
            </a:r>
            <a:r>
              <a:rPr lang="en-US" altLang="en-GB" b="1"/>
              <a:t>)</a:t>
            </a:r>
            <a:r>
              <a:rPr lang="en-US" altLang="en-GB"/>
              <a:t> = 100000000001010000000000000000000000001101011010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595" y="177800"/>
            <a:ext cx="11395075" cy="6501765"/>
          </a:xfrm>
          <a:effectLst/>
        </p:spPr>
        <p:txBody>
          <a:bodyPr/>
          <a:p>
            <a:pPr marL="0" indent="0">
              <a:buNone/>
            </a:pPr>
            <a:r>
              <a:rPr lang="en-US" altLang="en-GB"/>
              <a:t> </a:t>
            </a: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</a:rPr>
              <a:t>b. 48 bits of E(R1) XOR with  round(0) generated </a:t>
            </a: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  <a:sym typeface="+mn-ea"/>
              </a:rPr>
              <a:t>key</a:t>
            </a: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</a:rPr>
              <a:t> (called f  function)</a:t>
            </a:r>
            <a:endParaRPr lang="en-US" altLang="en-GB" sz="2400" b="1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GB" sz="2000" b="1">
                <a:solidFill>
                  <a:schemeClr val="tx1"/>
                </a:solidFill>
              </a:rPr>
              <a:t>K</a:t>
            </a:r>
            <a:r>
              <a:rPr lang="en-US" altLang="en-US" sz="2000" b="1">
                <a:solidFill>
                  <a:schemeClr val="tx1"/>
                </a:solidFill>
              </a:rPr>
              <a:t>₁ : </a:t>
            </a:r>
            <a:r>
              <a:rPr lang="en-US" altLang="en-GB" sz="2000">
                <a:solidFill>
                  <a:schemeClr val="tx1"/>
                </a:solidFill>
                <a:sym typeface="+mn-ea"/>
              </a:rPr>
              <a:t>101000001001001011000010000110000110100001001001</a:t>
            </a:r>
            <a:endParaRPr lang="en-US" altLang="en-GB" sz="200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E(R</a:t>
            </a:r>
            <a:r>
              <a:rPr lang="en-US" altLang="en-US" sz="2000" b="1">
                <a:sym typeface="+mn-ea"/>
              </a:rPr>
              <a:t>₀</a:t>
            </a:r>
            <a:r>
              <a:rPr lang="en-US" altLang="en-GB" sz="2000" b="1">
                <a:sym typeface="+mn-ea"/>
              </a:rPr>
              <a:t>) </a:t>
            </a:r>
            <a:r>
              <a:rPr lang="en-US" altLang="en-GB" sz="2000">
                <a:solidFill>
                  <a:schemeClr val="tx1"/>
                </a:solidFill>
                <a:sym typeface="+mn-ea"/>
              </a:rPr>
              <a:t>: </a:t>
            </a:r>
            <a:r>
              <a:rPr lang="en-US" altLang="en-GB" sz="2000">
                <a:sym typeface="+mn-ea"/>
              </a:rPr>
              <a:t>100000000001010000000000000000000000001101011010</a:t>
            </a: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000" b="1">
                <a:solidFill>
                  <a:schemeClr val="tx1"/>
                </a:solidFill>
              </a:rPr>
              <a:t> E(R</a:t>
            </a:r>
            <a:r>
              <a:rPr lang="en-US" altLang="en-US" sz="2000" b="1">
                <a:solidFill>
                  <a:schemeClr val="tx1"/>
                </a:solidFill>
              </a:rPr>
              <a:t>₀</a:t>
            </a:r>
            <a:r>
              <a:rPr lang="en-US" altLang="en-GB" sz="2000" b="1">
                <a:solidFill>
                  <a:schemeClr val="tx1"/>
                </a:solidFill>
              </a:rPr>
              <a:t>)⊕K</a:t>
            </a:r>
            <a:r>
              <a:rPr lang="en-US" altLang="en-US" sz="2000" b="1">
                <a:solidFill>
                  <a:schemeClr val="tx1"/>
                </a:solidFill>
              </a:rPr>
              <a:t>₁</a:t>
            </a:r>
            <a:r>
              <a:rPr lang="en-US" altLang="en-GB" sz="2000" b="1">
                <a:solidFill>
                  <a:schemeClr val="tx1"/>
                </a:solidFill>
              </a:rPr>
              <a:t> = </a:t>
            </a:r>
            <a:r>
              <a:rPr lang="en-US" altLang="en-GB" sz="2000">
                <a:solidFill>
                  <a:schemeClr val="tx1"/>
                </a:solidFill>
              </a:rPr>
              <a:t>001000001000011011000010000110000110101100010011</a:t>
            </a: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</a:rPr>
              <a:t>c. Substitution(S-Box)</a:t>
            </a:r>
            <a:endParaRPr lang="en-US" altLang="en-GB" sz="2400" b="1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GB" sz="2000">
                <a:solidFill>
                  <a:schemeClr val="tx1"/>
                </a:solidFill>
              </a:rPr>
              <a:t>The output produced by the previous step is broken into eight six-bit words.</a:t>
            </a: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001000    001000    011011    000010    000110    000110    101100    010011</a:t>
            </a: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000">
                <a:solidFill>
                  <a:schemeClr val="tx1"/>
                </a:solidFill>
              </a:rPr>
              <a:t>      </a:t>
            </a:r>
            <a:endParaRPr lang="en-US" altLang="en-GB" sz="200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57505" y="3895090"/>
            <a:ext cx="513080" cy="40449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2000" b="1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S1</a:t>
            </a:r>
            <a:endParaRPr lang="en-US" altLang="en-GB" sz="2000" b="1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90650" y="3895090"/>
            <a:ext cx="513080" cy="40449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2000" b="1">
                <a:solidFill>
                  <a:schemeClr val="tx1"/>
                </a:solidFill>
              </a:rPr>
              <a:t>S2</a:t>
            </a:r>
            <a:endParaRPr lang="en-US" altLang="en-GB" sz="2000" b="1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95980" y="3895090"/>
            <a:ext cx="513080" cy="40449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b="1">
                <a:solidFill>
                  <a:schemeClr val="tx1"/>
                </a:solidFill>
              </a:rPr>
              <a:t>S4</a:t>
            </a:r>
            <a:endParaRPr lang="en-US" altLang="en-GB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98645" y="3895090"/>
            <a:ext cx="513080" cy="40449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b="1">
                <a:solidFill>
                  <a:schemeClr val="tx1"/>
                </a:solidFill>
              </a:rPr>
              <a:t>S5</a:t>
            </a:r>
            <a:endParaRPr lang="en-US" altLang="en-GB" b="1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42255" y="3895090"/>
            <a:ext cx="513080" cy="40449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b="1">
                <a:solidFill>
                  <a:schemeClr val="tx1"/>
                </a:solidFill>
              </a:rPr>
              <a:t>S6</a:t>
            </a:r>
            <a:endParaRPr lang="en-US" altLang="en-GB" b="1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34455" y="3895090"/>
            <a:ext cx="513080" cy="40449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b="1">
                <a:solidFill>
                  <a:schemeClr val="tx1"/>
                </a:solidFill>
              </a:rPr>
              <a:t>S7</a:t>
            </a:r>
            <a:endParaRPr lang="en-US" altLang="en-GB" b="1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62520" y="3895090"/>
            <a:ext cx="513080" cy="40449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b="1">
                <a:solidFill>
                  <a:schemeClr val="tx1"/>
                </a:solidFill>
              </a:rPr>
              <a:t>S</a:t>
            </a:r>
            <a:r>
              <a:rPr lang="en-US" altLang="en-GB">
                <a:solidFill>
                  <a:schemeClr val="tx1"/>
                </a:solidFill>
              </a:rPr>
              <a:t>8</a:t>
            </a:r>
            <a:endParaRPr lang="en-US" altLang="en-GB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93315" y="3895090"/>
            <a:ext cx="513080" cy="40449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b="1">
                <a:solidFill>
                  <a:schemeClr val="tx1"/>
                </a:solidFill>
              </a:rPr>
              <a:t>S3</a:t>
            </a:r>
            <a:endParaRPr lang="en-US" altLang="en-GB" b="1">
              <a:solidFill>
                <a:schemeClr val="tx1"/>
              </a:solidFill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508000" y="3479165"/>
            <a:ext cx="222250" cy="3625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8" name="Down Arrow 17"/>
          <p:cNvSpPr/>
          <p:nvPr/>
        </p:nvSpPr>
        <p:spPr>
          <a:xfrm>
            <a:off x="1536065" y="3479165"/>
            <a:ext cx="222250" cy="3625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9" name="Down Arrow 18"/>
          <p:cNvSpPr/>
          <p:nvPr/>
        </p:nvSpPr>
        <p:spPr>
          <a:xfrm flipH="1">
            <a:off x="7607935" y="3512820"/>
            <a:ext cx="195580" cy="3289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0" name="Down Arrow 19"/>
          <p:cNvSpPr/>
          <p:nvPr/>
        </p:nvSpPr>
        <p:spPr>
          <a:xfrm flipH="1">
            <a:off x="2564130" y="3479165"/>
            <a:ext cx="195580" cy="3289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1" name="Down Arrow 20"/>
          <p:cNvSpPr/>
          <p:nvPr/>
        </p:nvSpPr>
        <p:spPr>
          <a:xfrm flipH="1">
            <a:off x="3554730" y="3479165"/>
            <a:ext cx="195580" cy="3289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2" name="Down Arrow 21"/>
          <p:cNvSpPr/>
          <p:nvPr/>
        </p:nvSpPr>
        <p:spPr>
          <a:xfrm flipH="1">
            <a:off x="4593590" y="3479165"/>
            <a:ext cx="195580" cy="3289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3" name="Down Arrow 22"/>
          <p:cNvSpPr/>
          <p:nvPr/>
        </p:nvSpPr>
        <p:spPr>
          <a:xfrm flipH="1">
            <a:off x="5493385" y="3512820"/>
            <a:ext cx="195580" cy="3289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4" name="Down Arrow 23"/>
          <p:cNvSpPr/>
          <p:nvPr/>
        </p:nvSpPr>
        <p:spPr>
          <a:xfrm flipH="1">
            <a:off x="6574790" y="3479165"/>
            <a:ext cx="195580" cy="3289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6" name="Down Arrow 25"/>
          <p:cNvSpPr/>
          <p:nvPr/>
        </p:nvSpPr>
        <p:spPr>
          <a:xfrm>
            <a:off x="507365" y="4429125"/>
            <a:ext cx="222250" cy="3625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7" name="Down Arrow 26"/>
          <p:cNvSpPr/>
          <p:nvPr/>
        </p:nvSpPr>
        <p:spPr>
          <a:xfrm>
            <a:off x="6574790" y="4386580"/>
            <a:ext cx="222250" cy="3625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8" name="Down Arrow 27"/>
          <p:cNvSpPr/>
          <p:nvPr/>
        </p:nvSpPr>
        <p:spPr>
          <a:xfrm>
            <a:off x="1535430" y="4415790"/>
            <a:ext cx="222250" cy="3625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9" name="Down Arrow 28"/>
          <p:cNvSpPr/>
          <p:nvPr/>
        </p:nvSpPr>
        <p:spPr>
          <a:xfrm>
            <a:off x="2563495" y="4417695"/>
            <a:ext cx="222250" cy="3625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0" name="Down Arrow 29"/>
          <p:cNvSpPr/>
          <p:nvPr/>
        </p:nvSpPr>
        <p:spPr>
          <a:xfrm>
            <a:off x="3554095" y="4429125"/>
            <a:ext cx="222250" cy="3625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1" name="Down Arrow 30"/>
          <p:cNvSpPr/>
          <p:nvPr/>
        </p:nvSpPr>
        <p:spPr>
          <a:xfrm>
            <a:off x="4544695" y="4415790"/>
            <a:ext cx="222250" cy="3625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2" name="Down Arrow 31"/>
          <p:cNvSpPr/>
          <p:nvPr/>
        </p:nvSpPr>
        <p:spPr>
          <a:xfrm>
            <a:off x="5493385" y="4415790"/>
            <a:ext cx="222250" cy="3625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3" name="Down Arrow 32"/>
          <p:cNvSpPr/>
          <p:nvPr/>
        </p:nvSpPr>
        <p:spPr>
          <a:xfrm>
            <a:off x="7593330" y="4386580"/>
            <a:ext cx="222250" cy="3625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4" name="Text Box 33"/>
          <p:cNvSpPr txBox="1"/>
          <p:nvPr/>
        </p:nvSpPr>
        <p:spPr>
          <a:xfrm>
            <a:off x="189230" y="4894580"/>
            <a:ext cx="8060690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   0010          0110            1011           1101           0001          1111            0111          0101</a:t>
            </a:r>
            <a:endParaRPr lang="en-US" altLang="en-GB"/>
          </a:p>
        </p:txBody>
      </p:sp>
      <p:sp>
        <p:nvSpPr>
          <p:cNvPr id="35" name="Text Box 34"/>
          <p:cNvSpPr txBox="1"/>
          <p:nvPr/>
        </p:nvSpPr>
        <p:spPr>
          <a:xfrm>
            <a:off x="357505" y="6254750"/>
            <a:ext cx="4554855" cy="278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C00000"/>
                </a:solidFill>
              </a:rPr>
              <a:t>what is actually performed in S-Box ?</a:t>
            </a:r>
            <a:endParaRPr lang="en-US" altLang="en-GB">
              <a:solidFill>
                <a:srgbClr val="C00000"/>
              </a:solidFill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315595" y="5638165"/>
            <a:ext cx="947801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/>
              <a:t>we get 32 bit after s-box : </a:t>
            </a:r>
            <a:r>
              <a:rPr lang="en-US" altLang="en-GB"/>
              <a:t>0010 0110 1011 1101 0001 1111 0111 0101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S-box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37530" y="244475"/>
            <a:ext cx="5617845" cy="638937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03835" y="307975"/>
            <a:ext cx="5260975" cy="6442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/>
              <a:t>For each 6-bit block b1 b2 b3 b4 b5 b6:</a:t>
            </a:r>
            <a:endParaRPr lang="en-US" altLang="en-GB" sz="2000"/>
          </a:p>
          <a:p>
            <a:r>
              <a:rPr lang="en-US" altLang="en-GB" sz="2000" b="1"/>
              <a:t>Row</a:t>
            </a:r>
            <a:r>
              <a:rPr lang="en-US" altLang="en-GB" sz="2000"/>
              <a:t> = binary b1 b6 (2 bits </a:t>
            </a:r>
            <a:r>
              <a:rPr lang="en-US" altLang="en-US" sz="2000"/>
              <a:t>→</a:t>
            </a:r>
            <a:r>
              <a:rPr lang="en-US" altLang="en-GB" sz="2000"/>
              <a:t> 0–3)</a:t>
            </a:r>
            <a:endParaRPr lang="en-US" altLang="en-GB" sz="2000"/>
          </a:p>
          <a:p>
            <a:r>
              <a:rPr lang="en-US" altLang="en-GB" sz="2000" b="1"/>
              <a:t>Column</a:t>
            </a:r>
            <a:r>
              <a:rPr lang="en-US" altLang="en-GB" sz="2000"/>
              <a:t> = binary b2 b3 b4 b5 (4 bits </a:t>
            </a:r>
            <a:r>
              <a:rPr lang="en-US" altLang="en-US" sz="2000"/>
              <a:t>→</a:t>
            </a:r>
            <a:r>
              <a:rPr lang="en-US" altLang="en-GB" sz="2000"/>
              <a:t> 0–15)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Look up  S_box[i][row][column] </a:t>
            </a:r>
            <a:r>
              <a:rPr lang="en-US" altLang="en-US" sz="2000"/>
              <a:t>→</a:t>
            </a:r>
            <a:r>
              <a:rPr lang="en-US" altLang="en-GB" sz="2000"/>
              <a:t> decimal </a:t>
            </a:r>
            <a:r>
              <a:rPr lang="en-US" altLang="en-GB" sz="2000" b="1"/>
              <a:t>0–15</a:t>
            </a:r>
            <a:r>
              <a:rPr lang="en-US" altLang="en-GB" sz="2000"/>
              <a:t> </a:t>
            </a:r>
            <a:r>
              <a:rPr lang="en-US" altLang="en-US" sz="2000"/>
              <a:t>→</a:t>
            </a:r>
            <a:r>
              <a:rPr lang="en-US" altLang="en-GB" sz="2000"/>
              <a:t> convert to </a:t>
            </a:r>
            <a:r>
              <a:rPr lang="en-US" altLang="en-GB" sz="2000" b="1"/>
              <a:t>4-bit binary</a:t>
            </a:r>
            <a:r>
              <a:rPr lang="en-US" altLang="en-GB" sz="2000"/>
              <a:t>.</a:t>
            </a:r>
            <a:endParaRPr lang="en-US" altLang="en-GB" sz="2000"/>
          </a:p>
          <a:p>
            <a:r>
              <a:rPr lang="en-US" altLang="en-GB" sz="2000"/>
              <a:t> lets work on above </a:t>
            </a:r>
            <a:r>
              <a:rPr lang="en-US" altLang="en-GB" sz="2000" b="1"/>
              <a:t>S1-box</a:t>
            </a:r>
            <a:endParaRPr lang="en-US" altLang="en-GB" sz="2000"/>
          </a:p>
          <a:p>
            <a:r>
              <a:rPr lang="en-US" altLang="en-GB" sz="2000"/>
              <a:t>   6 bit given : 001000</a:t>
            </a:r>
            <a:endParaRPr lang="en-US" altLang="en-GB" sz="2000"/>
          </a:p>
          <a:p>
            <a:r>
              <a:rPr lang="en-US" altLang="en-GB" sz="2000"/>
              <a:t>    </a:t>
            </a:r>
            <a:r>
              <a:rPr lang="en-US" altLang="en-GB" sz="2000">
                <a:highlight>
                  <a:srgbClr val="FF0000"/>
                </a:highlight>
                <a:sym typeface="+mn-ea"/>
              </a:rPr>
              <a:t>0</a:t>
            </a:r>
            <a:r>
              <a:rPr lang="en-US" altLang="en-GB" sz="2000">
                <a:sym typeface="+mn-ea"/>
              </a:rPr>
              <a:t>0100</a:t>
            </a:r>
            <a:r>
              <a:rPr lang="en-US" altLang="en-GB" sz="2000">
                <a:highlight>
                  <a:srgbClr val="FF0000"/>
                </a:highlight>
                <a:sym typeface="+mn-ea"/>
              </a:rPr>
              <a:t>0</a:t>
            </a:r>
            <a:endParaRPr lang="en-US" altLang="en-GB" sz="2000">
              <a:highlight>
                <a:srgbClr val="FF0000"/>
              </a:highlight>
              <a:sym typeface="+mn-ea"/>
            </a:endParaRPr>
          </a:p>
          <a:p>
            <a:r>
              <a:rPr lang="en-US" altLang="en-GB" sz="2000">
                <a:sym typeface="+mn-ea"/>
              </a:rPr>
              <a:t>Row : </a:t>
            </a:r>
            <a:r>
              <a:rPr lang="en-US" altLang="en-GB" sz="2000" b="1">
                <a:sym typeface="+mn-ea"/>
              </a:rPr>
              <a:t>00</a:t>
            </a:r>
            <a:r>
              <a:rPr lang="en-US" altLang="en-GB" sz="2000">
                <a:sym typeface="+mn-ea"/>
              </a:rPr>
              <a:t> binary     which in decimal  = </a:t>
            </a:r>
            <a:r>
              <a:rPr lang="en-US" altLang="en-GB" sz="2000" b="1">
                <a:sym typeface="+mn-ea"/>
              </a:rPr>
              <a:t>0</a:t>
            </a:r>
            <a:endParaRPr lang="en-US" altLang="en-GB" sz="2000">
              <a:sym typeface="+mn-ea"/>
            </a:endParaRPr>
          </a:p>
          <a:p>
            <a:r>
              <a:rPr lang="en-US" altLang="en-GB" sz="2000">
                <a:sym typeface="+mn-ea"/>
              </a:rPr>
              <a:t>Column : </a:t>
            </a:r>
            <a:r>
              <a:rPr lang="en-US" altLang="en-GB" sz="2000" b="1">
                <a:sym typeface="+mn-ea"/>
              </a:rPr>
              <a:t>0100</a:t>
            </a:r>
            <a:r>
              <a:rPr lang="en-US" altLang="en-GB" sz="2000">
                <a:sym typeface="+mn-ea"/>
              </a:rPr>
              <a:t> binary  </a:t>
            </a:r>
            <a:r>
              <a:rPr lang="en-US" altLang="en-GB" sz="2000">
                <a:sym typeface="+mn-ea"/>
              </a:rPr>
              <a:t>which in decimal = </a:t>
            </a:r>
            <a:r>
              <a:rPr lang="en-US" altLang="en-GB" sz="2000" b="1">
                <a:sym typeface="+mn-ea"/>
              </a:rPr>
              <a:t>4</a:t>
            </a:r>
            <a:endParaRPr lang="en-US" altLang="en-GB" sz="2000" b="1">
              <a:sym typeface="+mn-ea"/>
            </a:endParaRPr>
          </a:p>
          <a:p>
            <a:endParaRPr lang="en-US" altLang="en-GB" sz="2000"/>
          </a:p>
          <a:p>
            <a:r>
              <a:rPr lang="en-US" altLang="en-GB" sz="2000"/>
              <a:t>row:</a:t>
            </a:r>
            <a:r>
              <a:rPr lang="en-US" altLang="en-GB" sz="2000" b="1"/>
              <a:t> 0</a:t>
            </a:r>
            <a:r>
              <a:rPr lang="en-US" altLang="en-GB" sz="2000"/>
              <a:t>  column: </a:t>
            </a:r>
            <a:r>
              <a:rPr lang="en-US" altLang="en-GB" sz="2000" b="1"/>
              <a:t>4</a:t>
            </a:r>
            <a:r>
              <a:rPr lang="en-US" altLang="en-GB" sz="2000"/>
              <a:t> in the s1-table  = </a:t>
            </a:r>
            <a:r>
              <a:rPr lang="en-US" altLang="en-GB" sz="2000" b="1"/>
              <a:t>2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 b="1"/>
              <a:t>2 </a:t>
            </a:r>
            <a:r>
              <a:rPr lang="en-US" altLang="en-GB" sz="2000"/>
              <a:t>in binary number = </a:t>
            </a:r>
            <a:r>
              <a:rPr lang="en-US" altLang="en-GB" sz="2000" b="1"/>
              <a:t> 0010</a:t>
            </a:r>
            <a:endParaRPr lang="en-US" altLang="en-GB" sz="2000"/>
          </a:p>
          <a:p>
            <a:r>
              <a:rPr lang="en-US" altLang="en-GB" sz="2000"/>
              <a:t>   </a:t>
            </a:r>
            <a:endParaRPr lang="en-US" altLang="en-GB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790"/>
            <a:ext cx="12113260" cy="6760210"/>
          </a:xfrm>
        </p:spPr>
        <p:txBody>
          <a:bodyPr/>
          <a:p>
            <a:pPr marL="0" indent="0">
              <a:buNone/>
            </a:pPr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</a:rPr>
              <a:t>d. permutation (P-Box)</a:t>
            </a:r>
            <a:endParaRPr lang="en-US" altLang="en-GB" sz="2400" b="1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Picture 1" descr="p-bo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835" y="602615"/>
            <a:ext cx="3996690" cy="204216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12090" y="946785"/>
            <a:ext cx="7115175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 b="1"/>
              <a:t>out put from S-box</a:t>
            </a:r>
            <a:r>
              <a:rPr lang="en-US" altLang="en-GB" sz="2000"/>
              <a:t> =  0010 01</a:t>
            </a:r>
            <a:r>
              <a:rPr lang="en-US" altLang="en-GB" sz="200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  <a:r>
              <a:rPr lang="en-US" altLang="en-GB" sz="2000"/>
              <a:t>0 1011 110</a:t>
            </a:r>
            <a:r>
              <a:rPr lang="en-US" altLang="en-GB" sz="2000">
                <a:highlight>
                  <a:srgbClr val="FFFF00"/>
                </a:highlight>
              </a:rPr>
              <a:t>1</a:t>
            </a:r>
            <a:r>
              <a:rPr lang="en-US" altLang="en-GB" sz="2000"/>
              <a:t> 000</a:t>
            </a:r>
            <a:r>
              <a:rPr lang="en-US" altLang="en-GB" sz="2000">
                <a:highlight>
                  <a:srgbClr val="00FF00"/>
                </a:highlight>
              </a:rPr>
              <a:t>1</a:t>
            </a:r>
            <a:r>
              <a:rPr lang="en-US" altLang="en-GB" sz="2000"/>
              <a:t> </a:t>
            </a:r>
            <a:r>
              <a:rPr lang="en-US" altLang="en-GB" sz="2000">
                <a:highlight>
                  <a:srgbClr val="008000"/>
                </a:highlight>
              </a:rPr>
              <a:t>1</a:t>
            </a:r>
            <a:r>
              <a:rPr lang="en-US" altLang="en-GB" sz="2000"/>
              <a:t>111 0111 0101</a:t>
            </a:r>
            <a:endParaRPr lang="en-US" altLang="en-GB"/>
          </a:p>
          <a:p>
            <a:endParaRPr lang="en-US" altLang="en-GB"/>
          </a:p>
        </p:txBody>
      </p:sp>
      <p:sp>
        <p:nvSpPr>
          <p:cNvPr id="6" name="Text Box 5"/>
          <p:cNvSpPr txBox="1"/>
          <p:nvPr/>
        </p:nvSpPr>
        <p:spPr>
          <a:xfrm>
            <a:off x="304165" y="1353185"/>
            <a:ext cx="7299960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 b="1"/>
              <a:t>P-box output   </a:t>
            </a:r>
            <a:r>
              <a:rPr lang="en-US" altLang="en-GB" sz="2000"/>
              <a:t> =     </a:t>
            </a:r>
            <a:r>
              <a:rPr lang="en-US" altLang="en-GB" sz="2000">
                <a:highlight>
                  <a:srgbClr val="FFFF00"/>
                </a:highlight>
              </a:rPr>
              <a:t>1</a:t>
            </a:r>
            <a:r>
              <a:rPr lang="en-US" altLang="en-GB" sz="2000">
                <a:highlight>
                  <a:srgbClr val="00FFFF"/>
                </a:highlight>
              </a:rPr>
              <a:t>1</a:t>
            </a:r>
            <a:r>
              <a:rPr lang="en-US" altLang="en-GB" sz="2000">
                <a:highlight>
                  <a:srgbClr val="00FF00"/>
                </a:highlight>
              </a:rPr>
              <a:t>1</a:t>
            </a:r>
            <a:r>
              <a:rPr lang="en-US" altLang="en-GB" sz="2000">
                <a:highlight>
                  <a:srgbClr val="008000"/>
                </a:highlight>
              </a:rPr>
              <a:t>1</a:t>
            </a:r>
            <a:r>
              <a:rPr lang="en-US" altLang="en-GB" sz="2000"/>
              <a:t>0110 00110000 00111111 01111100</a:t>
            </a:r>
            <a:endParaRPr lang="en-US" altLang="en-GB" sz="2000"/>
          </a:p>
        </p:txBody>
      </p:sp>
      <p:sp>
        <p:nvSpPr>
          <p:cNvPr id="7" name="Text Box 6"/>
          <p:cNvSpPr txBox="1"/>
          <p:nvPr/>
        </p:nvSpPr>
        <p:spPr>
          <a:xfrm>
            <a:off x="8081645" y="2644775"/>
            <a:ext cx="3408045" cy="274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chemeClr val="accent1">
                    <a:lumMod val="75000"/>
                  </a:schemeClr>
                </a:solidFill>
              </a:rPr>
              <a:t>          use this table to permutate</a:t>
            </a:r>
            <a:endParaRPr lang="en-US" altLang="en-GB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04165" y="3322320"/>
            <a:ext cx="5028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chemeClr val="accent2">
                    <a:lumMod val="75000"/>
                  </a:schemeClr>
                </a:solidFill>
              </a:rPr>
              <a:t>e. P-Box output XOR with the left half</a:t>
            </a:r>
            <a:endParaRPr lang="en-US" altLang="en-GB" sz="2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0645" y="3782695"/>
            <a:ext cx="11897360" cy="296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ym typeface="+mn-ea"/>
              </a:rPr>
              <a:t>    </a:t>
            </a:r>
            <a:r>
              <a:rPr lang="en-US" altLang="en-GB" b="1">
                <a:sym typeface="+mn-ea"/>
              </a:rPr>
              <a:t>  left L</a:t>
            </a:r>
            <a:r>
              <a:rPr lang="en-US" altLang="en-GB">
                <a:sym typeface="+mn-ea"/>
              </a:rPr>
              <a:t>0</a:t>
            </a:r>
            <a:r>
              <a:rPr lang="en-US" altLang="en-GB" b="1">
                <a:sym typeface="+mn-ea"/>
              </a:rPr>
              <a:t> </a:t>
            </a:r>
            <a:r>
              <a:rPr lang="en-US" altLang="en-GB">
                <a:sym typeface="+mn-ea"/>
              </a:rPr>
              <a:t>: 01111111 01100011 00010010 01111111</a:t>
            </a:r>
            <a:endParaRPr lang="en-US" altLang="en-GB">
              <a:sym typeface="+mn-ea"/>
            </a:endParaRPr>
          </a:p>
          <a:p>
            <a:r>
              <a:rPr lang="en-US" altLang="en-GB"/>
              <a:t>      </a:t>
            </a:r>
            <a:r>
              <a:rPr lang="en-US" altLang="en-GB" b="1">
                <a:sym typeface="+mn-ea"/>
              </a:rPr>
              <a:t>P-box output   </a:t>
            </a:r>
            <a:r>
              <a:rPr lang="en-US" altLang="en-GB">
                <a:sym typeface="+mn-ea"/>
              </a:rPr>
              <a:t> =     11110110 00110000 00111111 01111100</a:t>
            </a:r>
            <a:endParaRPr lang="en-US" altLang="en-GB">
              <a:sym typeface="+mn-ea"/>
            </a:endParaRPr>
          </a:p>
          <a:p>
            <a:r>
              <a:rPr lang="en-US" altLang="en-GB" b="1"/>
              <a:t>         R</a:t>
            </a:r>
            <a:r>
              <a:rPr lang="en-US" altLang="en-GB"/>
              <a:t>1= </a:t>
            </a:r>
            <a:r>
              <a:rPr lang="en-US" altLang="en-GB">
                <a:sym typeface="+mn-ea"/>
              </a:rPr>
              <a:t>left</a:t>
            </a:r>
            <a:r>
              <a:rPr lang="en-US" altLang="en-GB" b="1">
                <a:sym typeface="+mn-ea"/>
              </a:rPr>
              <a:t> L</a:t>
            </a:r>
            <a:r>
              <a:rPr lang="en-US" altLang="en-GB">
                <a:sym typeface="+mn-ea"/>
              </a:rPr>
              <a:t>0</a:t>
            </a:r>
            <a:r>
              <a:rPr lang="en-US" altLang="en-GB" b="1">
                <a:sym typeface="+mn-ea"/>
              </a:rPr>
              <a:t> XOR  </a:t>
            </a:r>
            <a:r>
              <a:rPr lang="en-US" altLang="en-GB">
                <a:sym typeface="+mn-ea"/>
              </a:rPr>
              <a:t>P-box output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              01111111  </a:t>
            </a:r>
            <a:r>
              <a:rPr lang="en-US" altLang="en-GB" b="1">
                <a:sym typeface="+mn-ea"/>
              </a:rPr>
              <a:t>⊕</a:t>
            </a:r>
            <a:r>
              <a:rPr lang="en-US" altLang="en-GB">
                <a:sym typeface="+mn-ea"/>
              </a:rPr>
              <a:t> 11110110 = 10001001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             01100011   </a:t>
            </a:r>
            <a:r>
              <a:rPr lang="en-US" altLang="en-GB" b="1">
                <a:sym typeface="+mn-ea"/>
              </a:rPr>
              <a:t>⊕</a:t>
            </a:r>
            <a:r>
              <a:rPr lang="en-US" altLang="en-GB">
                <a:sym typeface="+mn-ea"/>
              </a:rPr>
              <a:t> 00110000 = 01010011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             00010010   </a:t>
            </a:r>
            <a:r>
              <a:rPr lang="en-US" altLang="en-GB" b="1">
                <a:sym typeface="+mn-ea"/>
              </a:rPr>
              <a:t>⊕</a:t>
            </a:r>
            <a:r>
              <a:rPr lang="en-US" altLang="en-GB">
                <a:sym typeface="+mn-ea"/>
              </a:rPr>
              <a:t> 00111111 = 00101101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             01111111   </a:t>
            </a:r>
            <a:r>
              <a:rPr lang="en-US" altLang="en-GB" b="1">
                <a:sym typeface="+mn-ea"/>
              </a:rPr>
              <a:t>⊕</a:t>
            </a:r>
            <a:r>
              <a:rPr lang="en-US" altLang="en-GB">
                <a:sym typeface="+mn-ea"/>
              </a:rPr>
              <a:t> 01111100 = 00000011 </a:t>
            </a:r>
            <a:endParaRPr lang="en-US" altLang="en-GB">
              <a:sym typeface="+mn-ea"/>
            </a:endParaRPr>
          </a:p>
          <a:p>
            <a:r>
              <a:rPr lang="en-US" altLang="en-GB" b="1">
                <a:sym typeface="+mn-ea"/>
              </a:rPr>
              <a:t> R</a:t>
            </a:r>
            <a:r>
              <a:rPr lang="en-US" altLang="en-GB">
                <a:sym typeface="+mn-ea"/>
              </a:rPr>
              <a:t>1</a:t>
            </a:r>
            <a:r>
              <a:rPr lang="en-US" altLang="en-GB" b="1">
                <a:sym typeface="+mn-ea"/>
              </a:rPr>
              <a:t> = </a:t>
            </a:r>
            <a:r>
              <a:rPr lang="en-US" altLang="en-GB">
                <a:sym typeface="+mn-ea"/>
              </a:rPr>
              <a:t>10001001  01010011   00101101   00000011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So the result of </a:t>
            </a:r>
            <a:r>
              <a:rPr lang="en-US" altLang="en-GB" b="1">
                <a:sym typeface="+mn-ea"/>
              </a:rPr>
              <a:t>Round-1</a:t>
            </a:r>
            <a:r>
              <a:rPr lang="en-US" altLang="en-GB">
                <a:sym typeface="+mn-ea"/>
              </a:rPr>
              <a:t>:  </a:t>
            </a:r>
            <a:r>
              <a:rPr lang="en-US" altLang="en-GB" b="1">
                <a:sym typeface="+mn-ea"/>
              </a:rPr>
              <a:t>L</a:t>
            </a:r>
            <a:r>
              <a:rPr lang="en-US" altLang="en-GB">
                <a:sym typeface="+mn-ea"/>
              </a:rPr>
              <a:t>1 =  00000000 10000000 00000000 01101101    </a:t>
            </a:r>
            <a:r>
              <a:rPr lang="en-US" altLang="en-GB" b="1">
                <a:sym typeface="+mn-ea"/>
              </a:rPr>
              <a:t>R</a:t>
            </a:r>
            <a:r>
              <a:rPr lang="en-US" altLang="en-GB">
                <a:sym typeface="+mn-ea"/>
              </a:rPr>
              <a:t>1</a:t>
            </a:r>
            <a:r>
              <a:rPr lang="en-US" altLang="en-GB" b="1">
                <a:sym typeface="+mn-ea"/>
              </a:rPr>
              <a:t> = </a:t>
            </a:r>
            <a:r>
              <a:rPr lang="en-US" altLang="en-GB">
                <a:sym typeface="+mn-ea"/>
              </a:rPr>
              <a:t>10001001  01010011   00101101   00000011</a:t>
            </a:r>
            <a:endParaRPr lang="en-US" altLang="en-GB">
              <a:sym typeface="+mn-ea"/>
            </a:endParaRPr>
          </a:p>
          <a:p>
            <a:endParaRPr lang="en-US" altLang="en-GB">
              <a:sym typeface="+mn-ea"/>
            </a:endParaRPr>
          </a:p>
          <a:p>
            <a:endParaRPr lang="en-US" altLang="en-GB" sz="2000">
              <a:sym typeface="+mn-ea"/>
            </a:endParaRPr>
          </a:p>
          <a:p>
            <a:r>
              <a:rPr lang="en-US" altLang="en-GB">
                <a:sym typeface="+mn-ea"/>
              </a:rPr>
              <a:t>                    </a:t>
            </a:r>
            <a:endParaRPr lang="en-US" altLang="en-GB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340" y="340995"/>
            <a:ext cx="11492230" cy="6271260"/>
          </a:xfrm>
        </p:spPr>
        <p:txBody>
          <a:bodyPr/>
          <a:p>
            <a:pPr marL="0" indent="0">
              <a:buNone/>
            </a:pPr>
            <a:r>
              <a:rPr lang="en-US" altLang="en-GB"/>
              <a:t>                                     </a:t>
            </a:r>
            <a:r>
              <a:rPr lang="en-US" altLang="en-GB" sz="2400"/>
              <a:t> </a:t>
            </a:r>
            <a:r>
              <a:rPr lang="en-US" altLang="en-GB" sz="24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Round-2</a:t>
            </a:r>
            <a:endParaRPr lang="en-US" altLang="en-GB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L</a:t>
            </a:r>
            <a:r>
              <a:rPr lang="en-US" altLang="en-GB" sz="1600">
                <a:sym typeface="+mn-ea"/>
              </a:rPr>
              <a:t>2 = </a:t>
            </a:r>
            <a:r>
              <a:rPr lang="en-US" altLang="en-GB" sz="20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1</a:t>
            </a:r>
            <a:endParaRPr lang="en-US" altLang="en-GB" sz="1600">
              <a:sym typeface="+mn-ea"/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2</a:t>
            </a:r>
            <a:r>
              <a:rPr lang="en-US" altLang="en-GB" sz="1600" b="1">
                <a:sym typeface="+mn-ea"/>
              </a:rPr>
              <a:t> </a:t>
            </a:r>
            <a:r>
              <a:rPr lang="en-US" altLang="en-GB" sz="1600">
                <a:sym typeface="+mn-ea"/>
              </a:rPr>
              <a:t>= </a:t>
            </a:r>
            <a:r>
              <a:rPr lang="en-US" altLang="en-GB" sz="2000" b="1">
                <a:sym typeface="+mn-ea"/>
              </a:rPr>
              <a:t>L</a:t>
            </a:r>
            <a:r>
              <a:rPr lang="en-US" altLang="en-GB" sz="1600">
                <a:sym typeface="+mn-ea"/>
              </a:rPr>
              <a:t>1 </a:t>
            </a:r>
            <a:r>
              <a:rPr lang="en-US" altLang="en-GB" sz="1600" b="1">
                <a:sym typeface="+mn-ea"/>
              </a:rPr>
              <a:t>XOR</a:t>
            </a:r>
            <a:r>
              <a:rPr lang="en-US" altLang="en-GB" sz="1600">
                <a:sym typeface="+mn-ea"/>
              </a:rPr>
              <a:t> f(</a:t>
            </a:r>
            <a:r>
              <a:rPr lang="en-US" altLang="en-GB" sz="20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1 </a:t>
            </a:r>
            <a:r>
              <a:rPr lang="en-US" altLang="en-GB" sz="1600" b="1">
                <a:sym typeface="+mn-ea"/>
              </a:rPr>
              <a:t>XOR</a:t>
            </a:r>
            <a:r>
              <a:rPr lang="en-US" altLang="en-GB" sz="1600">
                <a:sym typeface="+mn-ea"/>
              </a:rPr>
              <a:t>  </a:t>
            </a:r>
            <a:r>
              <a:rPr lang="en-US" altLang="en-GB" sz="2000" b="1">
                <a:sym typeface="+mn-ea"/>
              </a:rPr>
              <a:t>K</a:t>
            </a:r>
            <a:r>
              <a:rPr lang="en-US" altLang="en-GB" sz="1600">
                <a:sym typeface="+mn-ea"/>
              </a:rPr>
              <a:t>2)</a:t>
            </a:r>
            <a:endParaRPr lang="en-US" altLang="en-GB" sz="1600">
              <a:sym typeface="+mn-ea"/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L</a:t>
            </a:r>
            <a:r>
              <a:rPr lang="en-US" altLang="en-GB" sz="1600">
                <a:sym typeface="+mn-ea"/>
              </a:rPr>
              <a:t>1 = </a:t>
            </a:r>
            <a:r>
              <a:rPr lang="en-US" altLang="en-GB" sz="1800">
                <a:sym typeface="+mn-ea"/>
              </a:rPr>
              <a:t>00000000 10000000 00000000 01101101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1 =</a:t>
            </a:r>
            <a:r>
              <a:rPr lang="en-US" altLang="en-GB" sz="1800">
                <a:sym typeface="+mn-ea"/>
              </a:rPr>
              <a:t> 10001001  01010011   00101101   00000011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K</a:t>
            </a:r>
            <a:r>
              <a:rPr lang="en-US" altLang="en-GB" sz="1600">
                <a:sym typeface="+mn-ea"/>
              </a:rPr>
              <a:t>2 = </a:t>
            </a:r>
            <a:r>
              <a:rPr lang="en-US" altLang="en-GB" sz="1800">
                <a:sym typeface="+mn-ea"/>
              </a:rPr>
              <a:t>101000000001001001010010011000000000110000110101</a:t>
            </a:r>
            <a:endParaRPr lang="en-US" altLang="en-GB" sz="1600"/>
          </a:p>
          <a:p>
            <a:pPr marL="0" indent="0">
              <a:buNone/>
            </a:pPr>
            <a:r>
              <a:rPr lang="en-US" altLang="en-GB" sz="1600"/>
              <a:t>So  </a:t>
            </a:r>
            <a:endParaRPr lang="en-US" altLang="en-GB" sz="1600"/>
          </a:p>
          <a:p>
            <a:pPr marL="0" indent="0">
              <a:buNone/>
            </a:pPr>
            <a:r>
              <a:rPr lang="en-US" altLang="en-GB" sz="1600"/>
              <a:t>       </a:t>
            </a:r>
            <a:r>
              <a:rPr lang="en-US" altLang="en-GB" sz="2000" b="1">
                <a:sym typeface="+mn-ea"/>
              </a:rPr>
              <a:t>L</a:t>
            </a:r>
            <a:r>
              <a:rPr lang="en-US" altLang="en-GB" sz="1600">
                <a:sym typeface="+mn-ea"/>
              </a:rPr>
              <a:t>2 = </a:t>
            </a:r>
            <a:r>
              <a:rPr lang="en-US" altLang="en-GB" sz="1800">
                <a:sym typeface="+mn-ea"/>
              </a:rPr>
              <a:t>10001001  01010011   00101101   00000011</a:t>
            </a:r>
            <a:endParaRPr lang="en-US" altLang="en-GB" sz="1600">
              <a:sym typeface="+mn-ea"/>
            </a:endParaRPr>
          </a:p>
          <a:p>
            <a:pPr marL="0" indent="0">
              <a:buNone/>
            </a:pPr>
            <a:r>
              <a:rPr lang="en-US" altLang="en-GB" sz="1600">
                <a:sym typeface="+mn-ea"/>
              </a:rPr>
              <a:t>        </a:t>
            </a:r>
            <a:r>
              <a:rPr lang="en-US" altLang="en-GB" sz="2000">
                <a:sym typeface="+mn-ea"/>
              </a:rPr>
              <a:t>f</a:t>
            </a:r>
            <a:r>
              <a:rPr lang="en-US" altLang="en-GB" sz="1600">
                <a:sym typeface="+mn-ea"/>
              </a:rPr>
              <a:t>(</a:t>
            </a:r>
            <a:r>
              <a:rPr lang="en-US" altLang="en-GB" sz="20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1 </a:t>
            </a:r>
            <a:r>
              <a:rPr lang="en-US" altLang="en-GB" sz="1600" b="1">
                <a:sym typeface="+mn-ea"/>
              </a:rPr>
              <a:t>XOR</a:t>
            </a:r>
            <a:r>
              <a:rPr lang="en-US" altLang="en-GB" sz="1600">
                <a:sym typeface="+mn-ea"/>
              </a:rPr>
              <a:t>  </a:t>
            </a:r>
            <a:r>
              <a:rPr lang="en-US" altLang="en-GB" sz="2000" b="1">
                <a:sym typeface="+mn-ea"/>
              </a:rPr>
              <a:t>K</a:t>
            </a:r>
            <a:r>
              <a:rPr lang="en-US" altLang="en-GB" sz="1600">
                <a:sym typeface="+mn-ea"/>
              </a:rPr>
              <a:t>2) = </a:t>
            </a:r>
            <a:r>
              <a:rPr lang="en-US" altLang="en-GB" sz="1800">
                <a:sym typeface="+mn-ea"/>
              </a:rPr>
              <a:t>01010101 11110000 00110011 11001100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 </a:t>
            </a:r>
            <a:r>
              <a:rPr lang="en-US" altLang="en-GB" sz="20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2  = </a:t>
            </a:r>
            <a:r>
              <a:rPr lang="en-US" altLang="en-GB" sz="1800">
                <a:sym typeface="+mn-ea"/>
              </a:rPr>
              <a:t>01010101 01110000 00110011 10100001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                                          </a:t>
            </a:r>
            <a:r>
              <a:rPr lang="en-US" altLang="en-GB" sz="24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Round-3</a:t>
            </a:r>
            <a:endParaRPr lang="en-US" altLang="en-GB" sz="24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L</a:t>
            </a:r>
            <a:r>
              <a:rPr lang="en-US" altLang="en-GB" sz="1600">
                <a:sym typeface="+mn-ea"/>
              </a:rPr>
              <a:t>3</a:t>
            </a:r>
            <a:r>
              <a:rPr lang="en-US" altLang="en-GB" sz="1800">
                <a:sym typeface="+mn-ea"/>
              </a:rPr>
              <a:t> = </a:t>
            </a:r>
            <a:r>
              <a:rPr lang="en-US" altLang="en-GB" sz="20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2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3</a:t>
            </a:r>
            <a:r>
              <a:rPr lang="en-US" altLang="en-GB" sz="1800" b="1">
                <a:sym typeface="+mn-ea"/>
              </a:rPr>
              <a:t> </a:t>
            </a:r>
            <a:r>
              <a:rPr lang="en-US" altLang="en-GB" sz="1800">
                <a:sym typeface="+mn-ea"/>
              </a:rPr>
              <a:t>= </a:t>
            </a:r>
            <a:r>
              <a:rPr lang="en-US" altLang="en-GB" sz="2000" b="1">
                <a:sym typeface="+mn-ea"/>
              </a:rPr>
              <a:t>L</a:t>
            </a:r>
            <a:r>
              <a:rPr lang="en-US" altLang="en-GB" sz="1600">
                <a:sym typeface="+mn-ea"/>
              </a:rPr>
              <a:t>2</a:t>
            </a:r>
            <a:r>
              <a:rPr lang="en-US" altLang="en-GB" sz="1800">
                <a:sym typeface="+mn-ea"/>
              </a:rPr>
              <a:t> </a:t>
            </a:r>
            <a:r>
              <a:rPr lang="en-US" altLang="en-GB" sz="1800" b="1">
                <a:sym typeface="+mn-ea"/>
              </a:rPr>
              <a:t>XOR</a:t>
            </a:r>
            <a:r>
              <a:rPr lang="en-US" altLang="en-GB" sz="1800">
                <a:sym typeface="+mn-ea"/>
              </a:rPr>
              <a:t> f(</a:t>
            </a:r>
            <a:r>
              <a:rPr lang="en-US" altLang="en-GB" sz="20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2</a:t>
            </a:r>
            <a:r>
              <a:rPr lang="en-US" altLang="en-GB" sz="1800">
                <a:sym typeface="+mn-ea"/>
              </a:rPr>
              <a:t> </a:t>
            </a:r>
            <a:r>
              <a:rPr lang="en-US" altLang="en-GB" sz="1800" b="1">
                <a:sym typeface="+mn-ea"/>
              </a:rPr>
              <a:t>XOR</a:t>
            </a:r>
            <a:r>
              <a:rPr lang="en-US" altLang="en-GB" sz="1800">
                <a:sym typeface="+mn-ea"/>
              </a:rPr>
              <a:t>  </a:t>
            </a:r>
            <a:r>
              <a:rPr lang="en-US" altLang="en-GB" sz="2000" b="1">
                <a:sym typeface="+mn-ea"/>
              </a:rPr>
              <a:t>K</a:t>
            </a:r>
            <a:r>
              <a:rPr lang="en-US" altLang="en-GB" sz="1600">
                <a:sym typeface="+mn-ea"/>
              </a:rPr>
              <a:t>3</a:t>
            </a:r>
            <a:r>
              <a:rPr lang="en-US" altLang="en-GB" sz="1800">
                <a:sym typeface="+mn-ea"/>
              </a:rPr>
              <a:t>)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</a:t>
            </a:r>
            <a:r>
              <a:rPr lang="en-US" altLang="en-GB" sz="2000" b="1">
                <a:sym typeface="+mn-ea"/>
              </a:rPr>
              <a:t>L</a:t>
            </a:r>
            <a:r>
              <a:rPr lang="en-US" altLang="en-GB" sz="1600">
                <a:sym typeface="+mn-ea"/>
              </a:rPr>
              <a:t>3 = </a:t>
            </a:r>
            <a:r>
              <a:rPr lang="en-US" altLang="en-GB" sz="1800">
                <a:sym typeface="+mn-ea"/>
              </a:rPr>
              <a:t>01010101 01110000 00110011 10100001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20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3 = </a:t>
            </a:r>
            <a:r>
              <a:rPr lang="en-US" altLang="en-GB" sz="1800">
                <a:sym typeface="+mn-ea"/>
              </a:rPr>
              <a:t>10110101 10011111 10000111 01010110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endParaRPr lang="en-US" altLang="en-GB" sz="1800">
              <a:sym typeface="+mn-ea"/>
            </a:endParaRPr>
          </a:p>
          <a:p>
            <a:pPr marL="0" indent="0">
              <a:buNone/>
            </a:pPr>
            <a:endParaRPr lang="en-US" altLang="en-GB" sz="1600"/>
          </a:p>
          <a:p>
            <a:pPr marL="0" indent="0">
              <a:buNone/>
            </a:pPr>
            <a:endParaRPr lang="en-US" altLang="en-GB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/>
          <p:nvPr>
            <p:ph idx="1"/>
          </p:nvPr>
        </p:nvGraphicFramePr>
        <p:xfrm>
          <a:off x="201295" y="146685"/>
          <a:ext cx="11427460" cy="6477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96315"/>
                <a:gridCol w="4511040"/>
                <a:gridCol w="59201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Round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Left-</a:t>
                      </a:r>
                      <a:r>
                        <a:rPr lang="en-US" altLang="en-GB" sz="1800">
                          <a:sym typeface="+mn-ea"/>
                        </a:rPr>
                        <a:t>(32)</a:t>
                      </a:r>
                      <a:r>
                        <a:rPr lang="en-US" altLang="en-GB"/>
                        <a:t>bits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Right-</a:t>
                      </a:r>
                      <a:r>
                        <a:rPr lang="en-US" altLang="en-GB" sz="1800">
                          <a:sym typeface="+mn-ea"/>
                        </a:rPr>
                        <a:t>(32)</a:t>
                      </a:r>
                      <a:r>
                        <a:rPr lang="en-US" altLang="en-GB" sz="1800">
                          <a:sym typeface="+mn-ea"/>
                        </a:rPr>
                        <a:t>bits</a:t>
                      </a: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00000000 10000000 00000000 01101101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10001001 01010011 00101101 00000011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10001001 01010011 00101101 00000011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01010101 01110000 00110011 10100001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01010101 01110000 00110011 10100001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10110101 10011111 10000111 01010110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4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10110101 10011111 10000111 01010110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10100101 01111111 10110111 10101110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5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10100101 01111111 10110111 10101110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10111010 01101111 10001000 11100110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6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10111010 01101111 10001000 11100110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00001111 11010101 11100010 11111011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7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00001111 11010101 11100010 11111011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01011001 10100000 01001000 00010001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8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01011001 10100000 01001000 00010001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11110110 11010101 10111111 00010011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9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11110110 11010101 10111111 00010011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01011001 01110101 01001000 11101110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01011001 01110101 01001000 11101110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11101100 10000000 00000001 01000101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11101100 10000000 00000001 01000101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10001101 00110101 01010101 00010000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12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10001101 00110101 01010101 00010000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01111100 10110101 11110001 01000101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13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01111100 10110101 11110001 01000101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10000001 10111010 01010010 01010110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14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10000001 10111010 01010010 01010110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10011111 01001010 11110001 01000101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15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10011111 01001010 11110001 01000101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10000001 10111010 10101111 10101011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16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10000001 10111010 10101111 10101011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00111110 11110000 10100100 00010000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110" y="139065"/>
            <a:ext cx="11876405" cy="6570980"/>
          </a:xfrm>
        </p:spPr>
        <p:txBody>
          <a:bodyPr/>
          <a:p>
            <a:pPr marL="0" indent="0">
              <a:buNone/>
            </a:pPr>
            <a:r>
              <a:rPr lang="en-US" altLang="en-GB" sz="2400"/>
              <a:t>L</a:t>
            </a:r>
            <a:r>
              <a:rPr lang="en-US" altLang="en-GB" sz="1600"/>
              <a:t>16</a:t>
            </a:r>
            <a:r>
              <a:rPr lang="en-US" altLang="en-GB"/>
              <a:t> : </a:t>
            </a:r>
            <a:r>
              <a:rPr lang="en-US" altLang="en-GB" sz="2000"/>
              <a:t>10000001 10111010 10101111 10101011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400"/>
              <a:t>R</a:t>
            </a:r>
            <a:r>
              <a:rPr lang="en-US" altLang="en-GB" sz="1600"/>
              <a:t>16</a:t>
            </a:r>
            <a:r>
              <a:rPr lang="en-US" altLang="en-GB" sz="2000"/>
              <a:t> : 00111110 11110000 10100100 00010000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                                         </a:t>
            </a:r>
            <a:r>
              <a:rPr lang="en-US" altLang="en-GB" sz="2000">
                <a:sym typeface="+mn-ea"/>
              </a:rPr>
              <a:t> </a:t>
            </a:r>
            <a:r>
              <a:rPr lang="en-US" altLang="en-GB" sz="20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3.  32-bits Swap</a:t>
            </a:r>
            <a:endParaRPr lang="en-US" altLang="en-GB" sz="2000" b="1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GB" sz="2000"/>
              <a:t>preoutput Concatenate(</a:t>
            </a:r>
            <a:r>
              <a:rPr lang="en-US" altLang="en-GB" sz="2400" b="1"/>
              <a:t>L</a:t>
            </a:r>
            <a:r>
              <a:rPr lang="en-US" altLang="en-GB" sz="1600"/>
              <a:t>16</a:t>
            </a:r>
            <a:r>
              <a:rPr lang="en-US" altLang="en-GB" sz="2000"/>
              <a:t> || </a:t>
            </a:r>
            <a:r>
              <a:rPr lang="en-US" altLang="en-GB" sz="2400" b="1"/>
              <a:t>R</a:t>
            </a:r>
            <a:r>
              <a:rPr lang="en-US" altLang="en-GB" sz="1600"/>
              <a:t>16</a:t>
            </a:r>
            <a:r>
              <a:rPr lang="en-US" altLang="en-GB" sz="2000"/>
              <a:t>)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 b="1"/>
              <a:t>Before Swap </a:t>
            </a:r>
            <a:r>
              <a:rPr lang="en-US" altLang="en-GB" sz="2000">
                <a:sym typeface="+mn-ea"/>
              </a:rPr>
              <a:t>(</a:t>
            </a:r>
            <a:r>
              <a:rPr lang="en-US" altLang="en-GB" sz="2400" b="1">
                <a:sym typeface="+mn-ea"/>
              </a:rPr>
              <a:t>L</a:t>
            </a:r>
            <a:r>
              <a:rPr lang="en-US" altLang="en-GB" sz="1600">
                <a:sym typeface="+mn-ea"/>
              </a:rPr>
              <a:t>16</a:t>
            </a:r>
            <a:r>
              <a:rPr lang="en-US" altLang="en-GB" sz="2000">
                <a:sym typeface="+mn-ea"/>
              </a:rPr>
              <a:t> || </a:t>
            </a:r>
            <a:r>
              <a:rPr lang="en-US" altLang="en-GB" sz="24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16</a:t>
            </a:r>
            <a:r>
              <a:rPr lang="en-US" altLang="en-GB" sz="2000">
                <a:sym typeface="+mn-ea"/>
              </a:rPr>
              <a:t>) </a:t>
            </a:r>
            <a:r>
              <a:rPr lang="en-US" altLang="en-GB" sz="2000"/>
              <a:t>: </a:t>
            </a:r>
            <a:r>
              <a:rPr lang="en-US" altLang="en-GB" sz="2000">
                <a:sym typeface="+mn-ea"/>
              </a:rPr>
              <a:t>10000001 10111010 10101111 10101011 00111110 11110000 10100100 00010000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 b="1"/>
              <a:t>After Swap</a:t>
            </a:r>
            <a:r>
              <a:rPr lang="en-US" altLang="en-GB" sz="2000">
                <a:sym typeface="+mn-ea"/>
              </a:rPr>
              <a:t>(</a:t>
            </a:r>
            <a:r>
              <a:rPr lang="en-US" altLang="en-GB" sz="2400" b="1">
                <a:sym typeface="+mn-ea"/>
              </a:rPr>
              <a:t>R</a:t>
            </a:r>
            <a:r>
              <a:rPr lang="en-US" altLang="en-GB" sz="1600">
                <a:sym typeface="+mn-ea"/>
              </a:rPr>
              <a:t>16</a:t>
            </a:r>
            <a:r>
              <a:rPr lang="en-US" altLang="en-GB" sz="2000">
                <a:sym typeface="+mn-ea"/>
              </a:rPr>
              <a:t> || </a:t>
            </a:r>
            <a:r>
              <a:rPr lang="en-US" altLang="en-GB" sz="2400" b="1">
                <a:sym typeface="+mn-ea"/>
              </a:rPr>
              <a:t>L</a:t>
            </a:r>
            <a:r>
              <a:rPr lang="en-US" altLang="en-GB" sz="1600">
                <a:sym typeface="+mn-ea"/>
              </a:rPr>
              <a:t>16</a:t>
            </a:r>
            <a:r>
              <a:rPr lang="en-US" altLang="en-GB" sz="2000">
                <a:sym typeface="+mn-ea"/>
              </a:rPr>
              <a:t>) : </a:t>
            </a:r>
            <a:r>
              <a:rPr lang="en-US" altLang="en-GB" sz="2000">
                <a:sym typeface="+mn-ea"/>
              </a:rPr>
              <a:t>00111110 11110000 10100100 00010000 10000001 10111010 10101111 10101011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 b="1"/>
              <a:t>                                            </a:t>
            </a:r>
            <a:r>
              <a:rPr lang="en-US" altLang="en-GB" sz="20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3.  Inverse Initial  Permutation </a:t>
            </a:r>
            <a:endParaRPr lang="en-US" altLang="en-GB" sz="2000" b="1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GB" sz="2000" b="1"/>
              <a:t>        </a:t>
            </a:r>
            <a:r>
              <a:rPr lang="en-US" altLang="en-GB" sz="2000">
                <a:sym typeface="+mn-ea"/>
              </a:rPr>
              <a:t>(</a:t>
            </a:r>
            <a:r>
              <a:rPr lang="en-US" altLang="en-GB" sz="2000" b="1">
                <a:sym typeface="+mn-ea"/>
              </a:rPr>
              <a:t>R</a:t>
            </a:r>
            <a:r>
              <a:rPr lang="en-US" altLang="en-GB" sz="2000">
                <a:sym typeface="+mn-ea"/>
              </a:rPr>
              <a:t>16 || </a:t>
            </a:r>
            <a:r>
              <a:rPr lang="en-US" altLang="en-GB" sz="2000" b="1">
                <a:sym typeface="+mn-ea"/>
              </a:rPr>
              <a:t>L</a:t>
            </a:r>
            <a:r>
              <a:rPr lang="en-US" altLang="en-GB" sz="2000">
                <a:sym typeface="+mn-ea"/>
              </a:rPr>
              <a:t>16) : 00111110 11110000 10100100 00010000 10000001 10111010 10101111 10101011</a:t>
            </a:r>
            <a:endParaRPr lang="en-US" altLang="en-GB" sz="2000" b="1"/>
          </a:p>
        </p:txBody>
      </p:sp>
      <p:pic>
        <p:nvPicPr>
          <p:cNvPr id="2" name="Picture 1" descr="InvI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7225" y="3734435"/>
            <a:ext cx="3219450" cy="148209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428365" y="5332730"/>
            <a:ext cx="2667635" cy="207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 </a:t>
            </a:r>
            <a:r>
              <a:rPr lang="en-US" altLang="en-GB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altLang="en-GB" sz="1400">
                <a:solidFill>
                  <a:schemeClr val="accent1">
                    <a:lumMod val="75000"/>
                  </a:schemeClr>
                </a:solidFill>
              </a:rPr>
              <a:t>nverse Initial permutation table</a:t>
            </a:r>
            <a:endParaRPr lang="en-US" altLang="en-GB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8110" y="5869305"/>
            <a:ext cx="11877040" cy="608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 b="1"/>
              <a:t>Inv IP</a:t>
            </a:r>
            <a:r>
              <a:rPr lang="en-US" altLang="en-GB" b="1"/>
              <a:t> :   </a:t>
            </a:r>
            <a:r>
              <a:rPr lang="en-US" altLang="en-GB" sz="2000"/>
              <a:t>10001010 01101010 01001100 01101010 01110001 01111110 00010000 10111110</a:t>
            </a:r>
            <a:endParaRPr lang="en-US" altLang="en-GB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" y="182880"/>
            <a:ext cx="11988800" cy="6513830"/>
          </a:xfrm>
        </p:spPr>
        <p:txBody>
          <a:bodyPr/>
          <a:p>
            <a:pPr marL="0" indent="0">
              <a:buNone/>
            </a:pPr>
            <a:endParaRPr lang="en-US" altLang="en-GB" sz="2400" b="1"/>
          </a:p>
          <a:p>
            <a:pPr marL="0" indent="0">
              <a:buNone/>
            </a:pPr>
            <a:r>
              <a:rPr lang="en-US" altLang="en-GB" sz="2400" b="1"/>
              <a:t>  </a:t>
            </a:r>
            <a:r>
              <a:rPr lang="en-US" altLang="en-GB" sz="2400"/>
              <a:t> Inverted Initial permutaion binary number is called</a:t>
            </a:r>
            <a:r>
              <a:rPr lang="en-US" altLang="en-GB" sz="2400" b="1"/>
              <a:t> </a:t>
            </a:r>
            <a:r>
              <a:rPr lang="en-US" altLang="en-GB" sz="2400" b="1">
                <a:sym typeface="+mn-ea"/>
              </a:rPr>
              <a:t>Ciphertext(binary)</a:t>
            </a:r>
            <a:endParaRPr lang="en-US" altLang="en-GB" sz="2400" b="1"/>
          </a:p>
          <a:p>
            <a:pPr marL="0" indent="0">
              <a:buNone/>
            </a:pPr>
            <a:r>
              <a:rPr lang="en-US" altLang="en-GB" sz="2400" b="1"/>
              <a:t>Ciphertext(binary) </a:t>
            </a:r>
            <a:r>
              <a:rPr lang="en-US" altLang="en-GB" sz="2400"/>
              <a:t>: </a:t>
            </a:r>
            <a:r>
              <a:rPr lang="en-US" altLang="en-GB" sz="2000"/>
              <a:t>10001010 01101010 01001100 01101010 0110001 01111110 00010000 10111110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400" b="1"/>
              <a:t>Ciphertext(hex)</a:t>
            </a:r>
            <a:r>
              <a:rPr lang="en-US" altLang="en-GB" sz="2400"/>
              <a:t>: 8A6A4C6A717E10BE</a:t>
            </a: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pPr marL="0" indent="0">
              <a:buNone/>
            </a:pPr>
            <a:r>
              <a:rPr lang="en-US" altLang="en-GB" sz="2400" b="1"/>
              <a:t>plaintext Message(hex) : </a:t>
            </a:r>
            <a:r>
              <a:rPr lang="en-US" altLang="en-GB" sz="2400" b="1">
                <a:solidFill>
                  <a:schemeClr val="accent1">
                    <a:lumMod val="50000"/>
                  </a:schemeClr>
                </a:solidFill>
              </a:rPr>
              <a:t>53554343455353</a:t>
            </a:r>
            <a:r>
              <a:rPr lang="en-US" altLang="en-GB" sz="2400" b="1">
                <a:solidFill>
                  <a:schemeClr val="accent1">
                    <a:lumMod val="50000"/>
                  </a:schemeClr>
                </a:solidFill>
                <a:sym typeface="+mn-ea"/>
              </a:rPr>
              <a:t>20</a:t>
            </a:r>
            <a:r>
              <a:rPr lang="en-US" altLang="en-GB" sz="2400">
                <a:sym typeface="+mn-ea"/>
              </a:rPr>
              <a:t>  Encrypted with a KEY </a:t>
            </a:r>
            <a:r>
              <a:rPr lang="en-US" altLang="en-GB" sz="2400" b="1">
                <a:solidFill>
                  <a:schemeClr val="accent1">
                    <a:lumMod val="50000"/>
                  </a:schemeClr>
                </a:solidFill>
                <a:sym typeface="+mn-ea"/>
              </a:rPr>
              <a:t>4449534349504C49</a:t>
            </a:r>
            <a:endParaRPr lang="en-US" altLang="en-GB" sz="2400">
              <a:sym typeface="+mn-ea"/>
            </a:endParaRPr>
          </a:p>
          <a:p>
            <a:pPr marL="0" indent="0">
              <a:buNone/>
            </a:pPr>
            <a:r>
              <a:rPr lang="en-US" altLang="en-GB" sz="2400">
                <a:sym typeface="+mn-ea"/>
              </a:rPr>
              <a:t> in DES give us</a:t>
            </a:r>
            <a:endParaRPr lang="en-US" altLang="en-GB" sz="2400">
              <a:sym typeface="+mn-ea"/>
            </a:endParaRPr>
          </a:p>
          <a:p>
            <a:pPr marL="0" indent="0">
              <a:buNone/>
            </a:pPr>
            <a:r>
              <a:rPr lang="en-US" altLang="en-GB" sz="2400" b="1">
                <a:sym typeface="+mn-ea"/>
              </a:rPr>
              <a:t>Ciphertext(hex)</a:t>
            </a:r>
            <a:r>
              <a:rPr lang="en-US" altLang="en-GB" sz="2400">
                <a:sym typeface="+mn-ea"/>
              </a:rPr>
              <a:t>: </a:t>
            </a:r>
            <a:r>
              <a:rPr lang="en-US" altLang="en-GB" sz="2400" b="1">
                <a:solidFill>
                  <a:schemeClr val="accent1">
                    <a:lumMod val="50000"/>
                  </a:schemeClr>
                </a:solidFill>
                <a:sym typeface="+mn-ea"/>
              </a:rPr>
              <a:t>8A6A4C6A717E10BE</a:t>
            </a:r>
            <a:endParaRPr lang="en-US" altLang="en-GB" sz="2400"/>
          </a:p>
          <a:p>
            <a:pPr marL="0" indent="0">
              <a:buNone/>
            </a:pPr>
            <a:endParaRPr lang="en-US" altLang="en-GB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315" y="361950"/>
            <a:ext cx="10865485" cy="5815330"/>
          </a:xfrm>
        </p:spPr>
        <p:txBody>
          <a:bodyPr/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r>
              <a:rPr lang="en-US" altLang="en-GB"/>
              <a:t>                                          </a:t>
            </a:r>
            <a:r>
              <a:rPr lang="en-US" altLang="en-GB" sz="36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  <a:endParaRPr lang="en-US" altLang="en-GB" sz="36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693*487"/>
  <p:tag name="TABLE_ENDDRAG_RECT" val="27*42*693*487"/>
</p:tagLst>
</file>

<file path=ppt/tags/tag2.xml><?xml version="1.0" encoding="utf-8"?>
<p:tagLst xmlns:p="http://schemas.openxmlformats.org/presentationml/2006/main">
  <p:tag name="TABLE_ENDDRAG_ORIGIN_RECT" val="671*481"/>
  <p:tag name="TABLE_ENDDRAG_RECT" val="144*48*671*481"/>
</p:tagLst>
</file>

<file path=ppt/tags/tag3.xml><?xml version="1.0" encoding="utf-8"?>
<p:tagLst xmlns:p="http://schemas.openxmlformats.org/presentationml/2006/main">
  <p:tag name="TABLE_ENDDRAG_ORIGIN_RECT" val="671*280"/>
  <p:tag name="TABLE_ENDDRAG_RECT" val="144*104*671*280"/>
</p:tagLst>
</file>

<file path=ppt/tags/tag4.xml><?xml version="1.0" encoding="utf-8"?>
<p:tagLst xmlns:p="http://schemas.openxmlformats.org/presentationml/2006/main">
  <p:tag name="TABLE_ENDDRAG_ORIGIN_RECT" val="263*225"/>
  <p:tag name="TABLE_ENDDRAG_RECT" val="86*158*263*22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10628</Words>
  <Application>WPS Presentation</Application>
  <PresentationFormat>Widescreen</PresentationFormat>
  <Paragraphs>763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SimSun</vt:lpstr>
      <vt:lpstr>Wingdings</vt:lpstr>
      <vt:lpstr>Gabriola</vt:lpstr>
      <vt:lpstr>Franklin Gothic Medium</vt:lpstr>
      <vt:lpstr>Comic Sans MS</vt:lpstr>
      <vt:lpstr>Microsoft YaHei</vt:lpstr>
      <vt:lpstr>Arial Unicode MS</vt:lpstr>
      <vt:lpstr>Calibri Light</vt:lpstr>
      <vt:lpstr>Calibri</vt:lpstr>
      <vt:lpstr>Office Theme</vt:lpstr>
      <vt:lpstr>Data Encryption Standard Example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waan ofii</dc:creator>
  <cp:lastModifiedBy>waan ofii</cp:lastModifiedBy>
  <cp:revision>22</cp:revision>
  <dcterms:created xsi:type="dcterms:W3CDTF">2025-07-23T00:59:00Z</dcterms:created>
  <dcterms:modified xsi:type="dcterms:W3CDTF">2025-10-26T08:53:19Z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20C7F936689440EEBF36F2FE87C894AE_13</vt:lpwstr>
  </property>
  <property fmtid="{D5CDD505-2E9C-101B-9397-08002B2CF9AE}" pid="3" name="KSOProductBuildVer">
    <vt:lpwstr>2057-12.2.0.22556</vt:lpwstr>
  </property>
</Properties>
</file>